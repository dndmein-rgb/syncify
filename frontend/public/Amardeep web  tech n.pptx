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65" r:id="rId2"/>
    <p:sldId id="264" r:id="rId3"/>
    <p:sldId id="257" r:id="rId4"/>
    <p:sldId id="258" r:id="rId5"/>
    <p:sldId id="259" r:id="rId6"/>
    <p:sldId id="260" r:id="rId7"/>
    <p:sldId id="261" r:id="rId8"/>
    <p:sldId id="262" r:id="rId9"/>
    <p:sldId id="263" r:id="rId10"/>
  </p:sldIdLst>
  <p:sldSz cx="14630400" cy="8229600"/>
  <p:notesSz cx="8229600" cy="14630400"/>
  <p:embeddedFontLst>
    <p:embeddedFont>
      <p:font typeface="Sora Medium" panose="020B0604020202020204" charset="0"/>
      <p:regular r:id="rId12"/>
    </p:embeddedFont>
    <p:embeddedFont>
      <p:font typeface="Noto Sans TC" panose="020B0604020202020204" charset="-128"/>
      <p:regular r:id="rId13"/>
    </p:embeddedFont>
    <p:embeddedFont>
      <p:font typeface="Calibri Light" panose="020F0302020204030204" pitchFamily="34" charset="0"/>
      <p:regular r:id="rId14"/>
      <p:italic r:id="rId15"/>
    </p:embeddedFont>
    <p:embeddedFont>
      <p:font typeface="Consolas" panose="020B0609020204030204" pitchFamily="49" charset="0"/>
      <p:regular r:id="rId16"/>
      <p:bold r:id="rId17"/>
      <p:italic r:id="rId18"/>
      <p:boldItalic r:id="rId19"/>
    </p:embeddedFont>
    <p:embeddedFont>
      <p:font typeface="Calibri" panose="020F0502020204030204" pitchFamily="3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216" y="2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4368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387086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024162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7070C"/>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a:prstGeom prst="rect">
            <a:avLst/>
          </a:prstGeom>
        </p:spPr>
        <p:txBody>
          <a:bodyPr anchor="b"/>
          <a:lstStyle>
            <a:lvl1pPr algn="ctr">
              <a:defRPr sz="7200"/>
            </a:lvl1pPr>
          </a:lstStyle>
          <a:p>
            <a:r>
              <a:rPr lang="en-US"/>
              <a:t>Click to edit Master title style</a:t>
            </a:r>
            <a:endParaRPr lang="en-IN"/>
          </a:p>
        </p:txBody>
      </p:sp>
      <p:sp>
        <p:nvSpPr>
          <p:cNvPr id="3" name="Subtitle 2"/>
          <p:cNvSpPr>
            <a:spLocks noGrp="1"/>
          </p:cNvSpPr>
          <p:nvPr>
            <p:ph type="subTitle" idx="1"/>
          </p:nvPr>
        </p:nvSpPr>
        <p:spPr>
          <a:xfrm>
            <a:off x="1828800" y="4322446"/>
            <a:ext cx="10972800" cy="1986914"/>
          </a:xfrm>
          <a:prstGeom prst="rect">
            <a:avLst/>
          </a:prstGeo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p:cNvSpPr>
            <a:spLocks noGrp="1"/>
          </p:cNvSpPr>
          <p:nvPr>
            <p:ph type="dt" sz="half" idx="10"/>
          </p:nvPr>
        </p:nvSpPr>
        <p:spPr>
          <a:xfrm>
            <a:off x="1005840" y="7627621"/>
            <a:ext cx="3291840" cy="438150"/>
          </a:xfrm>
          <a:prstGeom prst="rect">
            <a:avLst/>
          </a:prstGeom>
        </p:spPr>
        <p:txBody>
          <a:bodyPr/>
          <a:lstStyle/>
          <a:p>
            <a:fld id="{A18451B6-0EFA-49B5-AA38-A844DC20CD26}" type="datetimeFigureOut">
              <a:rPr lang="en-IN" smtClean="0"/>
              <a:t>06-11-2025</a:t>
            </a:fld>
            <a:endParaRPr lang="en-IN"/>
          </a:p>
        </p:txBody>
      </p:sp>
      <p:sp>
        <p:nvSpPr>
          <p:cNvPr id="5" name="Footer Placeholder 4"/>
          <p:cNvSpPr>
            <a:spLocks noGrp="1"/>
          </p:cNvSpPr>
          <p:nvPr>
            <p:ph type="ftr" sz="quarter" idx="11"/>
          </p:nvPr>
        </p:nvSpPr>
        <p:spPr>
          <a:xfrm>
            <a:off x="4846320" y="7627621"/>
            <a:ext cx="4937760" cy="438150"/>
          </a:xfrm>
          <a:prstGeom prst="rect">
            <a:avLst/>
          </a:prstGeom>
        </p:spPr>
        <p:txBody>
          <a:bodyPr/>
          <a:lstStyle/>
          <a:p>
            <a:endParaRPr lang="en-IN"/>
          </a:p>
        </p:txBody>
      </p:sp>
      <p:sp>
        <p:nvSpPr>
          <p:cNvPr id="6" name="Slide Number Placeholder 5"/>
          <p:cNvSpPr>
            <a:spLocks noGrp="1"/>
          </p:cNvSpPr>
          <p:nvPr>
            <p:ph type="sldNum" sz="quarter" idx="12"/>
          </p:nvPr>
        </p:nvSpPr>
        <p:spPr>
          <a:xfrm>
            <a:off x="10332720" y="7627621"/>
            <a:ext cx="3291840" cy="438150"/>
          </a:xfrm>
          <a:prstGeom prst="rect">
            <a:avLst/>
          </a:prstGeom>
        </p:spPr>
        <p:txBody>
          <a:bodyPr/>
          <a:lstStyle/>
          <a:p>
            <a:fld id="{E02CD0DA-A14C-40D2-9045-6D0ECF816272}" type="slidenum">
              <a:rPr lang="en-IN" smtClean="0"/>
              <a:t>‹#›</a:t>
            </a:fld>
            <a:endParaRPr lang="en-IN"/>
          </a:p>
        </p:txBody>
      </p:sp>
    </p:spTree>
    <p:extLst>
      <p:ext uri="{BB962C8B-B14F-4D97-AF65-F5344CB8AC3E}">
        <p14:creationId xmlns:p14="http://schemas.microsoft.com/office/powerpoint/2010/main" val="2610642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2-3.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4-6.svg"/><Relationship Id="rId5" Type="http://schemas.openxmlformats.org/officeDocument/2006/relationships/image" Target="../media/image-4-4.svg"/><Relationship Id="rId4" Type="http://schemas.openxmlformats.org/officeDocument/2006/relationships/image" Target="../media/image-4-2.svg"/><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5.png"/><Relationship Id="rId3" Type="http://schemas.openxmlformats.org/officeDocument/2006/relationships/image" Target="../media/image8.png"/><Relationship Id="rId12" Type="http://schemas.openxmlformats.org/officeDocument/2006/relationships/image" Target="../media/image-6-12.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6.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364" y="-1899138"/>
            <a:ext cx="14451037" cy="4164184"/>
          </a:xfrm>
        </p:spPr>
        <p:txBody>
          <a:bodyPr>
            <a:noAutofit/>
          </a:bodyPr>
          <a:lstStyle/>
          <a:p>
            <a:r>
              <a:rPr lang="en-IN" sz="3120" b="1" dirty="0">
                <a:solidFill>
                  <a:schemeClr val="accent5">
                    <a:lumMod val="50000"/>
                  </a:schemeClr>
                </a:solidFill>
                <a:latin typeface="Times New Roman" panose="02020603050405020304" pitchFamily="18" charset="0"/>
                <a:cs typeface="Times New Roman" panose="02020603050405020304" pitchFamily="18" charset="0"/>
              </a:rPr>
              <a:t>MADHAV INSTITUTE OF TECHNOLOGY AND SCIENCE, GWALIOR</a:t>
            </a:r>
            <a:br>
              <a:rPr lang="en-IN" sz="3120" b="1" dirty="0">
                <a:solidFill>
                  <a:schemeClr val="accent5">
                    <a:lumMod val="50000"/>
                  </a:schemeClr>
                </a:solidFill>
                <a:latin typeface="Times New Roman" panose="02020603050405020304" pitchFamily="18" charset="0"/>
                <a:cs typeface="Times New Roman" panose="02020603050405020304" pitchFamily="18" charset="0"/>
              </a:rPr>
            </a:br>
            <a:r>
              <a:rPr lang="en-US" sz="2400" b="1" dirty="0">
                <a:solidFill>
                  <a:srgbClr val="C00000"/>
                </a:solidFill>
                <a:latin typeface="Times New Roman" panose="02020603050405020304" pitchFamily="18" charset="0"/>
                <a:cs typeface="Times New Roman" panose="02020603050405020304" pitchFamily="18" charset="0"/>
              </a:rPr>
              <a:t>(A Govt. Aided UGC Autonomous Institute, Affiliated to RGPV, Bhopal)</a:t>
            </a:r>
            <a:r>
              <a:rPr lang="en-IN" sz="3360" dirty="0">
                <a:latin typeface="Times New Roman" panose="02020603050405020304" pitchFamily="18" charset="0"/>
                <a:cs typeface="Times New Roman" panose="02020603050405020304" pitchFamily="18" charset="0"/>
              </a:rPr>
              <a:t/>
            </a:r>
            <a:br>
              <a:rPr lang="en-IN" sz="3360" dirty="0">
                <a:latin typeface="Times New Roman" panose="02020603050405020304" pitchFamily="18" charset="0"/>
                <a:cs typeface="Times New Roman" panose="02020603050405020304" pitchFamily="18" charset="0"/>
              </a:rPr>
            </a:br>
            <a:r>
              <a:rPr lang="en-US" sz="2400" b="1" i="1" u="sng" dirty="0">
                <a:latin typeface="Times New Roman" panose="02020603050405020304" pitchFamily="18" charset="0"/>
                <a:cs typeface="Times New Roman" panose="02020603050405020304" pitchFamily="18" charset="0"/>
              </a:rPr>
              <a:t>NAAC Accredited with A++ Grade</a:t>
            </a:r>
            <a:br>
              <a:rPr lang="en-US" sz="2400" b="1" i="1" u="sng" dirty="0">
                <a:latin typeface="Times New Roman" panose="02020603050405020304" pitchFamily="18" charset="0"/>
                <a:cs typeface="Times New Roman" panose="02020603050405020304" pitchFamily="18" charset="0"/>
              </a:rPr>
            </a:br>
            <a:r>
              <a:rPr lang="en-IN" sz="3360" dirty="0">
                <a:latin typeface="Times New Roman" panose="02020603050405020304" pitchFamily="18" charset="0"/>
                <a:cs typeface="Times New Roman" panose="02020603050405020304" pitchFamily="18" charset="0"/>
              </a:rPr>
              <a:t/>
            </a:r>
            <a:br>
              <a:rPr lang="en-IN" sz="3360" dirty="0">
                <a:latin typeface="Times New Roman" panose="02020603050405020304" pitchFamily="18" charset="0"/>
                <a:cs typeface="Times New Roman" panose="02020603050405020304" pitchFamily="18" charset="0"/>
              </a:rPr>
            </a:br>
            <a:r>
              <a:rPr lang="en-US" sz="2880" b="1" u="sng" dirty="0">
                <a:latin typeface="Times New Roman" panose="02020603050405020304" pitchFamily="18" charset="0"/>
                <a:cs typeface="Times New Roman" panose="02020603050405020304" pitchFamily="18" charset="0"/>
              </a:rPr>
              <a:t>DEPARTMENT OF INFORMATION TECHNOLOGY </a:t>
            </a:r>
            <a:endParaRPr lang="en-IN" sz="2880" b="1" u="sng"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79363" y="2412756"/>
            <a:ext cx="14264640" cy="5816844"/>
          </a:xfrm>
        </p:spPr>
        <p:txBody>
          <a:bodyPr>
            <a:normAutofit/>
          </a:bodyPr>
          <a:lstStyle/>
          <a:p>
            <a:r>
              <a:rPr lang="en-IN" sz="2400" dirty="0">
                <a:latin typeface="Times New Roman" panose="02020603050405020304" pitchFamily="18" charset="0"/>
                <a:cs typeface="Times New Roman" panose="02020603050405020304" pitchFamily="18" charset="0"/>
              </a:rPr>
              <a:t>A PRESENTATION </a:t>
            </a:r>
          </a:p>
          <a:p>
            <a:r>
              <a:rPr lang="en-IN" sz="2400" dirty="0">
                <a:latin typeface="Times New Roman" panose="02020603050405020304" pitchFamily="18" charset="0"/>
                <a:cs typeface="Times New Roman" panose="02020603050405020304" pitchFamily="18" charset="0"/>
              </a:rPr>
              <a:t>FOR</a:t>
            </a:r>
          </a:p>
          <a:p>
            <a:r>
              <a:rPr lang="en-IN" b="1" dirty="0">
                <a:solidFill>
                  <a:schemeClr val="accent6">
                    <a:lumMod val="50000"/>
                  </a:schemeClr>
                </a:solidFill>
                <a:latin typeface="Times New Roman" panose="02020603050405020304" pitchFamily="18" charset="0"/>
                <a:cs typeface="Times New Roman" panose="02020603050405020304" pitchFamily="18" charset="0"/>
              </a:rPr>
              <a:t>PROFICIENCY TEST</a:t>
            </a:r>
          </a:p>
          <a:p>
            <a:r>
              <a:rPr lang="en-IN" sz="2400" dirty="0" smtClean="0">
                <a:latin typeface="Times New Roman" panose="02020603050405020304" pitchFamily="18" charset="0"/>
                <a:cs typeface="Times New Roman" panose="02020603050405020304" pitchFamily="18" charset="0"/>
              </a:rPr>
              <a:t>On</a:t>
            </a:r>
          </a:p>
          <a:p>
            <a:r>
              <a:rPr lang="en-IN" b="1" dirty="0" smtClean="0">
                <a:solidFill>
                  <a:srgbClr val="C00000"/>
                </a:solidFill>
                <a:latin typeface="Times New Roman" panose="02020603050405020304" pitchFamily="18" charset="0"/>
                <a:cs typeface="Times New Roman" panose="02020603050405020304" pitchFamily="18" charset="0"/>
              </a:rPr>
              <a:t>WEB </a:t>
            </a:r>
            <a:r>
              <a:rPr lang="en-IN" b="1" smtClean="0">
                <a:solidFill>
                  <a:srgbClr val="C00000"/>
                </a:solidFill>
                <a:latin typeface="Times New Roman" panose="02020603050405020304" pitchFamily="18" charset="0"/>
                <a:cs typeface="Times New Roman" panose="02020603050405020304" pitchFamily="18" charset="0"/>
              </a:rPr>
              <a:t>TECHNOLOGIES </a:t>
            </a:r>
            <a:r>
              <a:rPr lang="en-IN" b="1" smtClean="0">
                <a:solidFill>
                  <a:srgbClr val="C00000"/>
                </a:solidFill>
                <a:latin typeface="Times New Roman" panose="02020603050405020304" pitchFamily="18" charset="0"/>
                <a:cs typeface="Times New Roman" panose="02020603050405020304" pitchFamily="18" charset="0"/>
              </a:rPr>
              <a:t>(910223</a:t>
            </a:r>
            <a:r>
              <a:rPr lang="en-IN" b="1" dirty="0" smtClean="0">
                <a:solidFill>
                  <a:srgbClr val="C00000"/>
                </a:solidFill>
                <a:latin typeface="Times New Roman" panose="02020603050405020304" pitchFamily="18" charset="0"/>
                <a:cs typeface="Times New Roman" panose="02020603050405020304" pitchFamily="18" charset="0"/>
              </a:rPr>
              <a:t>)</a:t>
            </a:r>
          </a:p>
          <a:p>
            <a:endParaRPr lang="en-IN" b="1" dirty="0">
              <a:solidFill>
                <a:srgbClr val="C00000"/>
              </a:solidFill>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Branch:</a:t>
            </a:r>
            <a:r>
              <a:rPr lang="en-IN" dirty="0">
                <a:latin typeface="Times New Roman" panose="02020603050405020304" pitchFamily="18" charset="0"/>
                <a:cs typeface="Times New Roman" panose="02020603050405020304" pitchFamily="18" charset="0"/>
              </a:rPr>
              <a:t> Internet of Things(</a:t>
            </a:r>
            <a:r>
              <a:rPr lang="en-IN" dirty="0" err="1">
                <a:latin typeface="Times New Roman" panose="02020603050405020304" pitchFamily="18" charset="0"/>
                <a:cs typeface="Times New Roman" panose="02020603050405020304" pitchFamily="18" charset="0"/>
              </a:rPr>
              <a:t>IoT</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IV </a:t>
            </a:r>
            <a:r>
              <a:rPr lang="en-IN" dirty="0">
                <a:latin typeface="Times New Roman" panose="02020603050405020304" pitchFamily="18" charset="0"/>
                <a:cs typeface="Times New Roman" panose="02020603050405020304" pitchFamily="18" charset="0"/>
              </a:rPr>
              <a:t>Year </a:t>
            </a:r>
            <a:r>
              <a:rPr lang="en-IN" dirty="0" smtClean="0">
                <a:latin typeface="Times New Roman" panose="02020603050405020304" pitchFamily="18" charset="0"/>
                <a:cs typeface="Times New Roman" panose="02020603050405020304" pitchFamily="18" charset="0"/>
              </a:rPr>
              <a:t>VII </a:t>
            </a:r>
            <a:r>
              <a:rPr lang="en-IN" dirty="0">
                <a:latin typeface="Times New Roman" panose="02020603050405020304" pitchFamily="18" charset="0"/>
                <a:cs typeface="Times New Roman" panose="02020603050405020304" pitchFamily="18" charset="0"/>
              </a:rPr>
              <a:t>Semester</a:t>
            </a:r>
          </a:p>
          <a:p>
            <a:r>
              <a:rPr lang="en-IN" b="1" dirty="0">
                <a:latin typeface="Times New Roman" panose="02020603050405020304" pitchFamily="18" charset="0"/>
                <a:cs typeface="Times New Roman" panose="02020603050405020304" pitchFamily="18" charset="0"/>
              </a:rPr>
              <a:t>Session:</a:t>
            </a:r>
            <a:r>
              <a:rPr lang="en-IN" dirty="0">
                <a:latin typeface="Times New Roman" panose="02020603050405020304" pitchFamily="18" charset="0"/>
                <a:cs typeface="Times New Roman" panose="02020603050405020304" pitchFamily="18" charset="0"/>
              </a:rPr>
              <a:t> July-December </a:t>
            </a:r>
            <a:r>
              <a:rPr lang="en-IN" dirty="0" smtClean="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p>
            <a:pPr algn="just">
              <a:lnSpc>
                <a:spcPct val="60000"/>
              </a:lnSpc>
            </a:pPr>
            <a:r>
              <a:rPr lang="en-IN" b="1" dirty="0" smtClean="0">
                <a:latin typeface="Times New Roman" panose="02020603050405020304" pitchFamily="18" charset="0"/>
                <a:cs typeface="Times New Roman" panose="02020603050405020304" pitchFamily="18" charset="0"/>
              </a:rPr>
              <a:t>  Submitted </a:t>
            </a:r>
            <a:r>
              <a:rPr lang="en-IN" b="1" dirty="0">
                <a:latin typeface="Times New Roman" panose="02020603050405020304" pitchFamily="18" charset="0"/>
                <a:cs typeface="Times New Roman" panose="02020603050405020304" pitchFamily="18" charset="0"/>
              </a:rPr>
              <a:t>by: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Submitted to:</a:t>
            </a:r>
          </a:p>
          <a:p>
            <a:pPr algn="just">
              <a:lnSpc>
                <a:spcPct val="60000"/>
              </a:lnSpc>
            </a:pPr>
            <a:r>
              <a:rPr lang="en-IN" dirty="0" smtClean="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Amardeep</a:t>
            </a:r>
            <a:r>
              <a:rPr lang="en-IN" dirty="0" smtClean="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Chouhan</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Dr.</a:t>
            </a:r>
            <a:r>
              <a:rPr lang="en-IN" dirty="0" smtClean="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Gagandeep</a:t>
            </a:r>
            <a:r>
              <a:rPr lang="en-IN" dirty="0" smtClean="0">
                <a:latin typeface="Times New Roman" panose="02020603050405020304" pitchFamily="18" charset="0"/>
                <a:cs typeface="Times New Roman" panose="02020603050405020304" pitchFamily="18" charset="0"/>
              </a:rPr>
              <a:t> Kaur</a:t>
            </a:r>
            <a:endParaRPr lang="en-IN" dirty="0">
              <a:latin typeface="Times New Roman" panose="02020603050405020304" pitchFamily="18" charset="0"/>
              <a:cs typeface="Times New Roman" panose="02020603050405020304" pitchFamily="18" charset="0"/>
            </a:endParaRPr>
          </a:p>
          <a:p>
            <a:pPr algn="just">
              <a:lnSpc>
                <a:spcPct val="60000"/>
              </a:lnSpc>
            </a:pPr>
            <a:r>
              <a:rPr lang="en-IN" dirty="0" smtClean="0">
                <a:latin typeface="Times New Roman" panose="02020603050405020304" pitchFamily="18" charset="0"/>
                <a:cs typeface="Times New Roman" panose="02020603050405020304" pitchFamily="18" charset="0"/>
              </a:rPr>
              <a:t>   0901IO221011</a:t>
            </a:r>
            <a:r>
              <a:rPr lang="en-IN" dirty="0">
                <a:latin typeface="Times New Roman" panose="02020603050405020304" pitchFamily="18" charset="0"/>
                <a:cs typeface="Times New Roman" panose="02020603050405020304" pitchFamily="18" charset="0"/>
              </a:rPr>
              <a:t>	                       			                      </a:t>
            </a:r>
          </a:p>
          <a:p>
            <a:pPr algn="just">
              <a:lnSpc>
                <a:spcPct val="50000"/>
              </a:lnSpc>
            </a:pPr>
            <a:r>
              <a:rPr lang="en-IN" dirty="0">
                <a:latin typeface="Times New Roman" panose="02020603050405020304" pitchFamily="18" charset="0"/>
                <a:cs typeface="Times New Roman" panose="02020603050405020304" pitchFamily="18" charset="0"/>
              </a:rPr>
              <a:t>									</a:t>
            </a: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0" y="151302"/>
            <a:ext cx="1107830" cy="924877"/>
          </a:xfrm>
          <a:prstGeom prst="rect">
            <a:avLst/>
          </a:prstGeom>
        </p:spPr>
      </p:pic>
      <p:pic>
        <p:nvPicPr>
          <p:cNvPr id="5" name="Picture 4"/>
          <p:cNvPicPr>
            <a:picLocks noChangeAspect="1"/>
          </p:cNvPicPr>
          <p:nvPr/>
        </p:nvPicPr>
        <p:blipFill>
          <a:blip r:embed="rId3"/>
          <a:stretch>
            <a:fillRect/>
          </a:stretch>
        </p:blipFill>
        <p:spPr>
          <a:xfrm>
            <a:off x="-3517" y="0"/>
            <a:ext cx="14630400" cy="1435875"/>
          </a:xfrm>
          <a:prstGeom prst="rect">
            <a:avLst/>
          </a:prstGeom>
        </p:spPr>
      </p:pic>
    </p:spTree>
    <p:extLst>
      <p:ext uri="{BB962C8B-B14F-4D97-AF65-F5344CB8AC3E}">
        <p14:creationId xmlns:p14="http://schemas.microsoft.com/office/powerpoint/2010/main" val="979711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25294" y="82685"/>
            <a:ext cx="13749905" cy="3397568"/>
          </a:xfrm>
          <a:prstGeom prst="rect">
            <a:avLst/>
          </a:prstGeom>
          <a:noFill/>
          <a:ln/>
        </p:spPr>
        <p:txBody>
          <a:bodyPr wrap="square" lIns="0" tIns="0" rIns="0" bIns="0" rtlCol="0" anchor="t"/>
          <a:lstStyle/>
          <a:p>
            <a:pPr marL="0" indent="0" algn="l">
              <a:lnSpc>
                <a:spcPts val="13350"/>
              </a:lnSpc>
              <a:buNone/>
            </a:pPr>
            <a:r>
              <a:rPr lang="en-US" sz="10700" dirty="0">
                <a:solidFill>
                  <a:srgbClr val="97B8FF"/>
                </a:solidFill>
                <a:latin typeface="Sora Medium" pitchFamily="34" charset="0"/>
                <a:ea typeface="Sora Medium" pitchFamily="34" charset="-122"/>
                <a:cs typeface="Sora Medium" pitchFamily="34" charset="-120"/>
              </a:rPr>
              <a:t>Introduction to SQL</a:t>
            </a:r>
            <a:endParaRPr lang="en-US" sz="10700" dirty="0"/>
          </a:p>
        </p:txBody>
      </p:sp>
      <p:sp>
        <p:nvSpPr>
          <p:cNvPr id="4" name="Text 1"/>
          <p:cNvSpPr/>
          <p:nvPr/>
        </p:nvSpPr>
        <p:spPr>
          <a:xfrm>
            <a:off x="598393" y="2347730"/>
            <a:ext cx="7694295" cy="1132523"/>
          </a:xfrm>
          <a:prstGeom prst="rect">
            <a:avLst/>
          </a:prstGeom>
          <a:noFill/>
          <a:ln/>
        </p:spPr>
        <p:txBody>
          <a:bodyPr wrap="square" lIns="0" tIns="0" rIns="0" bIns="0" rtlCol="0" anchor="t"/>
          <a:lstStyle/>
          <a:p>
            <a:pPr marL="0" indent="0" algn="l">
              <a:lnSpc>
                <a:spcPts val="4450"/>
              </a:lnSpc>
              <a:buNone/>
            </a:pPr>
            <a:r>
              <a:rPr lang="en-US" sz="3550" dirty="0">
                <a:solidFill>
                  <a:srgbClr val="97B8FF"/>
                </a:solidFill>
                <a:latin typeface="Sora Medium" pitchFamily="34" charset="0"/>
                <a:ea typeface="Sora Medium" pitchFamily="34" charset="-122"/>
                <a:cs typeface="Sora Medium" pitchFamily="34" charset="-120"/>
              </a:rPr>
              <a:t>The Essential Language of Relational Databases</a:t>
            </a:r>
            <a:endParaRPr lang="en-US" sz="3550" dirty="0"/>
          </a:p>
        </p:txBody>
      </p:sp>
      <p:sp>
        <p:nvSpPr>
          <p:cNvPr id="5" name="Text 2"/>
          <p:cNvSpPr/>
          <p:nvPr/>
        </p:nvSpPr>
        <p:spPr>
          <a:xfrm>
            <a:off x="525294" y="3811064"/>
            <a:ext cx="14032007" cy="4011059"/>
          </a:xfrm>
          <a:prstGeom prst="rect">
            <a:avLst/>
          </a:prstGeom>
          <a:noFill/>
          <a:ln/>
        </p:spPr>
        <p:txBody>
          <a:bodyPr wrap="square" lIns="0" tIns="0" rIns="0" bIns="0" rtlCol="0" anchor="t"/>
          <a:lstStyle/>
          <a:p>
            <a:pPr marL="0" indent="0" algn="just">
              <a:lnSpc>
                <a:spcPts val="2250"/>
              </a:lnSpc>
              <a:buNone/>
            </a:pPr>
            <a:r>
              <a:rPr lang="en-US" sz="1400" dirty="0">
                <a:solidFill>
                  <a:schemeClr val="bg1">
                    <a:lumMod val="75000"/>
                  </a:schemeClr>
                </a:solidFill>
                <a:latin typeface="Noto Sans TC" pitchFamily="34" charset="0"/>
                <a:ea typeface="Noto Sans TC" pitchFamily="34" charset="-122"/>
                <a:cs typeface="Noto Sans TC" pitchFamily="34" charset="-120"/>
              </a:rPr>
              <a:t>Welcome to this introductory presentation on SQL (Structured Query Language). Over the next few slides, we will explore what SQL is, why it is fundamental in the modern digital landscape, and its core components for managing data</a:t>
            </a:r>
            <a:r>
              <a:rPr lang="en-US" sz="1400" dirty="0" smtClean="0">
                <a:solidFill>
                  <a:srgbClr val="E0D6DE"/>
                </a:solidFill>
                <a:latin typeface="Noto Sans TC" pitchFamily="34" charset="0"/>
                <a:ea typeface="Noto Sans TC" pitchFamily="34" charset="-122"/>
                <a:cs typeface="Noto Sans TC" pitchFamily="34" charset="-120"/>
              </a:rPr>
              <a:t>.</a:t>
            </a:r>
          </a:p>
          <a:p>
            <a:pPr marL="0" indent="0" algn="just">
              <a:lnSpc>
                <a:spcPts val="2250"/>
              </a:lnSpc>
              <a:buNone/>
            </a:pPr>
            <a:endParaRPr lang="en-US" sz="1400" dirty="0">
              <a:solidFill>
                <a:schemeClr val="bg1">
                  <a:lumMod val="95000"/>
                </a:schemeClr>
              </a:solidFill>
              <a:latin typeface="Noto Sans TC" pitchFamily="34" charset="0"/>
              <a:ea typeface="Noto Sans TC" pitchFamily="34" charset="-122"/>
            </a:endParaRPr>
          </a:p>
          <a:p>
            <a:pPr algn="just">
              <a:lnSpc>
                <a:spcPts val="2250"/>
              </a:lnSpc>
            </a:pPr>
            <a:r>
              <a:rPr lang="en-US" sz="1400" dirty="0" smtClean="0">
                <a:solidFill>
                  <a:schemeClr val="bg1">
                    <a:lumMod val="75000"/>
                  </a:schemeClr>
                </a:solidFill>
                <a:latin typeface="Noto Sans TC" panose="020B0604020202020204" charset="-128"/>
                <a:ea typeface="Noto Sans TC" panose="020B0604020202020204" charset="-128"/>
              </a:rPr>
              <a:t>SQL, or Structured Query Language, is a standardized programming language designed for managing and manipulating data stored in relational databases. It serves as the primary means of communication with these databases, allowing users to perform a wide range of operations. </a:t>
            </a:r>
          </a:p>
          <a:p>
            <a:pPr algn="just">
              <a:lnSpc>
                <a:spcPts val="2250"/>
              </a:lnSpc>
            </a:pPr>
            <a:endParaRPr lang="en-US" sz="1400" dirty="0" smtClean="0">
              <a:solidFill>
                <a:schemeClr val="bg1">
                  <a:lumMod val="75000"/>
                </a:schemeClr>
              </a:solidFill>
              <a:latin typeface="Noto Sans TC" panose="020B0604020202020204" charset="-128"/>
              <a:ea typeface="Noto Sans TC" panose="020B0604020202020204" charset="-128"/>
            </a:endParaRPr>
          </a:p>
          <a:p>
            <a:pPr algn="just">
              <a:lnSpc>
                <a:spcPts val="2250"/>
              </a:lnSpc>
            </a:pPr>
            <a:r>
              <a:rPr lang="en-US" sz="1400" dirty="0" smtClean="0">
                <a:solidFill>
                  <a:schemeClr val="bg1">
                    <a:lumMod val="75000"/>
                  </a:schemeClr>
                </a:solidFill>
                <a:latin typeface="Noto Sans TC" panose="020B0604020202020204" charset="-128"/>
                <a:ea typeface="Noto Sans TC" panose="020B0604020202020204" charset="-128"/>
              </a:rPr>
              <a:t>SQL commands are typically categorized into functional groups: DQL (Data Query Language, using SELECT to retrieve information), DML (Data Manipulation Language, using INSERT, UPDATE, and DELETE to manage records), and DDL (Data Definition Language, using CREATE and ALTER to define the database structure itself). Its English-like syntax makes it accessible to beginners while offering robust capabilities for complex data operations like joining multiple tables and aggregating data. SQL is a foundational skill for data analysts, software developers, and database administrators across virtually every industry today.</a:t>
            </a:r>
            <a:endParaRPr lang="en-US" sz="1400" dirty="0">
              <a:solidFill>
                <a:schemeClr val="bg1">
                  <a:lumMod val="75000"/>
                </a:schemeClr>
              </a:solidFill>
              <a:latin typeface="Noto Sans TC" panose="020B0604020202020204" charset="-128"/>
              <a:ea typeface="Noto Sans TC" panose="020B0604020202020204" charset="-128"/>
            </a:endParaRPr>
          </a:p>
          <a:p>
            <a:pPr>
              <a:lnSpc>
                <a:spcPts val="2250"/>
              </a:lnSpc>
            </a:pPr>
            <a:endParaRPr lang="en-US" sz="1400" dirty="0">
              <a:solidFill>
                <a:schemeClr val="bg1">
                  <a:lumMod val="75000"/>
                </a:schemeClr>
              </a:solidFill>
              <a:latin typeface="Noto Sans TC" panose="020B0604020202020204" charset="-128"/>
              <a:ea typeface="Noto Sans TC" panose="020B0604020202020204" charset="-128"/>
            </a:endParaRPr>
          </a:p>
          <a:p>
            <a:pPr>
              <a:lnSpc>
                <a:spcPts val="2250"/>
              </a:lnSpc>
            </a:pPr>
            <a:endParaRPr lang="en-US" sz="1400" dirty="0">
              <a:solidFill>
                <a:schemeClr val="bg1">
                  <a:lumMod val="75000"/>
                </a:schemeClr>
              </a:solidFill>
              <a:latin typeface="Noto Sans TC" panose="020B0604020202020204" charset="-128"/>
              <a:ea typeface="Noto Sans TC" panose="020B0604020202020204" charset="-128"/>
            </a:endParaRPr>
          </a:p>
        </p:txBody>
      </p:sp>
      <p:pic>
        <p:nvPicPr>
          <p:cNvPr id="6" name="Picture 5"/>
          <p:cNvPicPr>
            <a:picLocks noChangeAspect="1"/>
          </p:cNvPicPr>
          <p:nvPr/>
        </p:nvPicPr>
        <p:blipFill>
          <a:blip r:embed="rId3"/>
          <a:stretch>
            <a:fillRect/>
          </a:stretch>
        </p:blipFill>
        <p:spPr>
          <a:xfrm>
            <a:off x="12208212" y="7524424"/>
            <a:ext cx="2422188" cy="595398"/>
          </a:xfrm>
          <a:prstGeom prst="rect">
            <a:avLst/>
          </a:prstGeom>
        </p:spPr>
      </p:pic>
    </p:spTree>
    <p:extLst>
      <p:ext uri="{BB962C8B-B14F-4D97-AF65-F5344CB8AC3E}">
        <p14:creationId xmlns:p14="http://schemas.microsoft.com/office/powerpoint/2010/main" val="3965962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5171237" y="867518"/>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97B8FF"/>
                </a:solidFill>
                <a:latin typeface="Sora Medium" pitchFamily="34" charset="0"/>
                <a:ea typeface="Sora Medium" pitchFamily="34" charset="-122"/>
                <a:cs typeface="Sora Medium" pitchFamily="34" charset="-120"/>
              </a:rPr>
              <a:t>What is SQL?</a:t>
            </a:r>
            <a:endParaRPr lang="en-US" sz="3900" dirty="0"/>
          </a:p>
        </p:txBody>
      </p:sp>
      <p:sp>
        <p:nvSpPr>
          <p:cNvPr id="4" name="Shape 1"/>
          <p:cNvSpPr/>
          <p:nvPr/>
        </p:nvSpPr>
        <p:spPr>
          <a:xfrm>
            <a:off x="2998113" y="1765458"/>
            <a:ext cx="7556421" cy="4688086"/>
          </a:xfrm>
          <a:prstGeom prst="roundRect">
            <a:avLst>
              <a:gd name="adj" fmla="val 635"/>
            </a:avLst>
          </a:prstGeom>
          <a:solidFill>
            <a:srgbClr val="26262B"/>
          </a:solidFill>
          <a:ln/>
        </p:spPr>
      </p:sp>
      <p:sp>
        <p:nvSpPr>
          <p:cNvPr id="5" name="Shape 2"/>
          <p:cNvSpPr/>
          <p:nvPr/>
        </p:nvSpPr>
        <p:spPr>
          <a:xfrm>
            <a:off x="2998113" y="1765458"/>
            <a:ext cx="3778210" cy="2847618"/>
          </a:xfrm>
          <a:prstGeom prst="roundRect">
            <a:avLst>
              <a:gd name="adj" fmla="val 1045"/>
            </a:avLst>
          </a:prstGeom>
          <a:solidFill>
            <a:srgbClr val="97B8FF"/>
          </a:solidFill>
          <a:ln/>
        </p:spPr>
      </p:sp>
      <p:sp>
        <p:nvSpPr>
          <p:cNvPr id="6" name="Text 3"/>
          <p:cNvSpPr/>
          <p:nvPr/>
        </p:nvSpPr>
        <p:spPr>
          <a:xfrm>
            <a:off x="3196471" y="1963816"/>
            <a:ext cx="3083719" cy="744141"/>
          </a:xfrm>
          <a:prstGeom prst="rect">
            <a:avLst/>
          </a:prstGeom>
          <a:noFill/>
          <a:ln/>
        </p:spPr>
        <p:txBody>
          <a:bodyPr wrap="square" lIns="0" tIns="0" rIns="0" bIns="0" rtlCol="0" anchor="t"/>
          <a:lstStyle/>
          <a:p>
            <a:pPr marL="0" indent="0" algn="l">
              <a:lnSpc>
                <a:spcPts val="2900"/>
              </a:lnSpc>
              <a:buNone/>
            </a:pPr>
            <a:r>
              <a:rPr lang="en-US" sz="2300" dirty="0">
                <a:solidFill>
                  <a:srgbClr val="000000"/>
                </a:solidFill>
                <a:latin typeface="Sora Medium" pitchFamily="34" charset="0"/>
                <a:ea typeface="Sora Medium" pitchFamily="34" charset="-122"/>
                <a:cs typeface="Sora Medium" pitchFamily="34" charset="-120"/>
              </a:rPr>
              <a:t>Structured Query Language</a:t>
            </a:r>
            <a:endParaRPr lang="en-US" sz="2300" dirty="0"/>
          </a:p>
        </p:txBody>
      </p:sp>
      <p:sp>
        <p:nvSpPr>
          <p:cNvPr id="7" name="Text 4"/>
          <p:cNvSpPr/>
          <p:nvPr/>
        </p:nvSpPr>
        <p:spPr>
          <a:xfrm>
            <a:off x="3196471" y="2827019"/>
            <a:ext cx="3083719" cy="158769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Noto Sans TC" pitchFamily="34" charset="0"/>
                <a:ea typeface="Noto Sans TC" pitchFamily="34" charset="-122"/>
                <a:cs typeface="Noto Sans TC" pitchFamily="34" charset="-120"/>
              </a:rPr>
              <a:t>SQL is the industry-standard language specifically designed for managing and querying data held in relational database management systems (RDBMS).</a:t>
            </a:r>
            <a:endParaRPr lang="en-US" sz="1550" dirty="0"/>
          </a:p>
        </p:txBody>
      </p:sp>
      <p:sp>
        <p:nvSpPr>
          <p:cNvPr id="8" name="Shape 5"/>
          <p:cNvSpPr/>
          <p:nvPr/>
        </p:nvSpPr>
        <p:spPr>
          <a:xfrm>
            <a:off x="6776323" y="1765458"/>
            <a:ext cx="3778210" cy="2847618"/>
          </a:xfrm>
          <a:prstGeom prst="rect">
            <a:avLst/>
          </a:prstGeom>
          <a:solidFill>
            <a:srgbClr val="7AF0FF"/>
          </a:solidFill>
          <a:ln/>
        </p:spPr>
      </p:sp>
      <p:sp>
        <p:nvSpPr>
          <p:cNvPr id="9" name="Shape 6"/>
          <p:cNvSpPr/>
          <p:nvPr/>
        </p:nvSpPr>
        <p:spPr>
          <a:xfrm>
            <a:off x="6776323" y="1765458"/>
            <a:ext cx="22860" cy="2847618"/>
          </a:xfrm>
          <a:prstGeom prst="roundRect">
            <a:avLst>
              <a:gd name="adj" fmla="val 130232"/>
            </a:avLst>
          </a:prstGeom>
          <a:solidFill>
            <a:srgbClr val="60D6E5"/>
          </a:solidFill>
          <a:ln/>
        </p:spPr>
      </p:sp>
      <p:sp>
        <p:nvSpPr>
          <p:cNvPr id="10" name="Text 7"/>
          <p:cNvSpPr/>
          <p:nvPr/>
        </p:nvSpPr>
        <p:spPr>
          <a:xfrm>
            <a:off x="7272456" y="1963816"/>
            <a:ext cx="3083719" cy="744141"/>
          </a:xfrm>
          <a:prstGeom prst="rect">
            <a:avLst/>
          </a:prstGeom>
          <a:noFill/>
          <a:ln/>
        </p:spPr>
        <p:txBody>
          <a:bodyPr wrap="square" lIns="0" tIns="0" rIns="0" bIns="0" rtlCol="0" anchor="t"/>
          <a:lstStyle/>
          <a:p>
            <a:pPr marL="0" indent="0" algn="l">
              <a:lnSpc>
                <a:spcPts val="2900"/>
              </a:lnSpc>
              <a:buNone/>
            </a:pPr>
            <a:r>
              <a:rPr lang="en-US" sz="2300" dirty="0">
                <a:solidFill>
                  <a:srgbClr val="000000"/>
                </a:solidFill>
                <a:latin typeface="Sora Medium" pitchFamily="34" charset="0"/>
                <a:ea typeface="Sora Medium" pitchFamily="34" charset="-122"/>
                <a:cs typeface="Sora Medium" pitchFamily="34" charset="-120"/>
              </a:rPr>
              <a:t>Standard Access Method</a:t>
            </a:r>
            <a:endParaRPr lang="en-US" sz="2300" dirty="0"/>
          </a:p>
        </p:txBody>
      </p:sp>
      <p:sp>
        <p:nvSpPr>
          <p:cNvPr id="11" name="Text 8"/>
          <p:cNvSpPr/>
          <p:nvPr/>
        </p:nvSpPr>
        <p:spPr>
          <a:xfrm>
            <a:off x="7272456" y="2827019"/>
            <a:ext cx="3083719" cy="158769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Noto Sans TC" pitchFamily="34" charset="0"/>
                <a:ea typeface="Noto Sans TC" pitchFamily="34" charset="-122"/>
                <a:cs typeface="Noto Sans TC" pitchFamily="34" charset="-120"/>
              </a:rPr>
              <a:t>It serves as the universal tool used by developers, analysts, and database administrators to access and manipulate data stored across various systems.</a:t>
            </a:r>
            <a:endParaRPr lang="en-US" sz="1550" dirty="0"/>
          </a:p>
        </p:txBody>
      </p:sp>
      <p:sp>
        <p:nvSpPr>
          <p:cNvPr id="12" name="Shape 9"/>
          <p:cNvSpPr/>
          <p:nvPr/>
        </p:nvSpPr>
        <p:spPr>
          <a:xfrm>
            <a:off x="6528316" y="2941140"/>
            <a:ext cx="496133" cy="496133"/>
          </a:xfrm>
          <a:prstGeom prst="roundRect">
            <a:avLst>
              <a:gd name="adj" fmla="val 6001"/>
            </a:avLst>
          </a:prstGeom>
          <a:solidFill>
            <a:srgbClr val="07070C"/>
          </a:solidFill>
          <a:ln w="22860">
            <a:solidFill>
              <a:srgbClr val="60D6E5"/>
            </a:solidFill>
            <a:prstDash val="solid"/>
          </a:ln>
        </p:spPr>
      </p:sp>
      <p:pic>
        <p:nvPicPr>
          <p:cNvPr id="13" name="Image 1"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6652379" y="3065084"/>
            <a:ext cx="248007" cy="248007"/>
          </a:xfrm>
          <a:prstGeom prst="rect">
            <a:avLst/>
          </a:prstGeom>
        </p:spPr>
      </p:pic>
      <p:sp>
        <p:nvSpPr>
          <p:cNvPr id="14" name="Shape 10"/>
          <p:cNvSpPr/>
          <p:nvPr/>
        </p:nvSpPr>
        <p:spPr>
          <a:xfrm>
            <a:off x="2998113" y="4613076"/>
            <a:ext cx="7556421" cy="1840468"/>
          </a:xfrm>
          <a:prstGeom prst="rect">
            <a:avLst/>
          </a:prstGeom>
          <a:solidFill>
            <a:srgbClr val="120336"/>
          </a:solidFill>
          <a:ln/>
        </p:spPr>
      </p:sp>
      <p:sp>
        <p:nvSpPr>
          <p:cNvPr id="15" name="Shape 11"/>
          <p:cNvSpPr/>
          <p:nvPr/>
        </p:nvSpPr>
        <p:spPr>
          <a:xfrm>
            <a:off x="2998113" y="4613076"/>
            <a:ext cx="7556421" cy="22860"/>
          </a:xfrm>
          <a:prstGeom prst="roundRect">
            <a:avLst>
              <a:gd name="adj" fmla="val 130232"/>
            </a:avLst>
          </a:prstGeom>
          <a:solidFill>
            <a:srgbClr val="2B1C4F"/>
          </a:solidFill>
          <a:ln/>
        </p:spPr>
      </p:sp>
      <p:sp>
        <p:nvSpPr>
          <p:cNvPr id="16" name="Text 12"/>
          <p:cNvSpPr/>
          <p:nvPr/>
        </p:nvSpPr>
        <p:spPr>
          <a:xfrm>
            <a:off x="3196471" y="4811434"/>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FFFFFF"/>
                </a:solidFill>
                <a:latin typeface="Sora Medium" pitchFamily="34" charset="0"/>
                <a:ea typeface="Sora Medium" pitchFamily="34" charset="-122"/>
                <a:cs typeface="Sora Medium" pitchFamily="34" charset="-120"/>
              </a:rPr>
              <a:t>CRUD Operations</a:t>
            </a:r>
            <a:endParaRPr lang="en-US" sz="2300" dirty="0"/>
          </a:p>
        </p:txBody>
      </p:sp>
      <p:sp>
        <p:nvSpPr>
          <p:cNvPr id="17" name="Text 13"/>
          <p:cNvSpPr/>
          <p:nvPr/>
        </p:nvSpPr>
        <p:spPr>
          <a:xfrm>
            <a:off x="3196471" y="5302567"/>
            <a:ext cx="6861929" cy="95261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Noto Sans TC" pitchFamily="34" charset="0"/>
                <a:ea typeface="Noto Sans TC" pitchFamily="34" charset="-122"/>
                <a:cs typeface="Noto Sans TC" pitchFamily="34" charset="-120"/>
              </a:rPr>
              <a:t>SQL enables users to perform the fundamental actions of data management: Create, Read, Update, and Delete data records (often referred to as CRUD operations).</a:t>
            </a:r>
            <a:endParaRPr lang="en-US" sz="1550" dirty="0"/>
          </a:p>
        </p:txBody>
      </p:sp>
      <p:sp>
        <p:nvSpPr>
          <p:cNvPr id="18" name="Text 14"/>
          <p:cNvSpPr/>
          <p:nvPr/>
        </p:nvSpPr>
        <p:spPr>
          <a:xfrm>
            <a:off x="2998113" y="6676786"/>
            <a:ext cx="7556421" cy="952619"/>
          </a:xfrm>
          <a:prstGeom prst="rect">
            <a:avLst/>
          </a:prstGeom>
          <a:noFill/>
          <a:ln/>
        </p:spPr>
        <p:txBody>
          <a:bodyPr wrap="square" lIns="0" tIns="0" rIns="0" bIns="0" rtlCol="0" anchor="t"/>
          <a:lstStyle/>
          <a:p>
            <a:pPr marL="0" indent="0" algn="l">
              <a:lnSpc>
                <a:spcPts val="2500"/>
              </a:lnSpc>
              <a:buNone/>
            </a:pPr>
            <a:r>
              <a:rPr lang="en-US" sz="1550" dirty="0" smtClean="0">
                <a:solidFill>
                  <a:srgbClr val="E0D6DE"/>
                </a:solidFill>
                <a:latin typeface="Noto Sans TC" pitchFamily="34" charset="0"/>
                <a:ea typeface="Noto Sans TC" pitchFamily="34" charset="-122"/>
                <a:cs typeface="Noto Sans TC" pitchFamily="34" charset="-120"/>
              </a:rPr>
              <a:t>This standardization means that the core SQL commands are supported across all major database systems, including MySQL, Oracle, PostgreSQL, and SQL Server, making it a highly transferable skill.</a:t>
            </a:r>
            <a:endParaRPr lang="en-US" sz="1550" dirty="0"/>
          </a:p>
        </p:txBody>
      </p:sp>
      <p:pic>
        <p:nvPicPr>
          <p:cNvPr id="19" name="Picture 18"/>
          <p:cNvPicPr>
            <a:picLocks noChangeAspect="1"/>
          </p:cNvPicPr>
          <p:nvPr/>
        </p:nvPicPr>
        <p:blipFill>
          <a:blip r:embed="rId5"/>
          <a:stretch>
            <a:fillRect/>
          </a:stretch>
        </p:blipFill>
        <p:spPr>
          <a:xfrm>
            <a:off x="12208212" y="7524424"/>
            <a:ext cx="2422188" cy="5953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2699" y="441841"/>
            <a:ext cx="4017407" cy="502087"/>
          </a:xfrm>
          <a:prstGeom prst="rect">
            <a:avLst/>
          </a:prstGeom>
          <a:noFill/>
          <a:ln/>
        </p:spPr>
        <p:txBody>
          <a:bodyPr wrap="none" lIns="0" tIns="0" rIns="0" bIns="0" rtlCol="0" anchor="t"/>
          <a:lstStyle/>
          <a:p>
            <a:pPr marL="0" indent="0" algn="l">
              <a:lnSpc>
                <a:spcPts val="3950"/>
              </a:lnSpc>
              <a:buNone/>
            </a:pPr>
            <a:r>
              <a:rPr lang="en-US" sz="3150" dirty="0">
                <a:solidFill>
                  <a:srgbClr val="97B8FF"/>
                </a:solidFill>
                <a:latin typeface="Sora Medium" pitchFamily="34" charset="0"/>
                <a:ea typeface="Sora Medium" pitchFamily="34" charset="-122"/>
                <a:cs typeface="Sora Medium" pitchFamily="34" charset="-120"/>
              </a:rPr>
              <a:t>Why Use SQL?</a:t>
            </a:r>
            <a:endParaRPr lang="en-US" sz="3150" dirty="0"/>
          </a:p>
        </p:txBody>
      </p:sp>
      <p:sp>
        <p:nvSpPr>
          <p:cNvPr id="3" name="Text 1"/>
          <p:cNvSpPr/>
          <p:nvPr/>
        </p:nvSpPr>
        <p:spPr>
          <a:xfrm>
            <a:off x="642699" y="1265277"/>
            <a:ext cx="13345001" cy="257175"/>
          </a:xfrm>
          <a:prstGeom prst="rect">
            <a:avLst/>
          </a:prstGeom>
          <a:noFill/>
          <a:ln/>
        </p:spPr>
        <p:txBody>
          <a:bodyPr wrap="none" lIns="0" tIns="0" rIns="0" bIns="0" rtlCol="0" anchor="t"/>
          <a:lstStyle/>
          <a:p>
            <a:pPr marL="0" indent="0" algn="l">
              <a:lnSpc>
                <a:spcPts val="2000"/>
              </a:lnSpc>
              <a:buNone/>
            </a:pPr>
            <a:r>
              <a:rPr lang="en-US" sz="1250" dirty="0">
                <a:solidFill>
                  <a:srgbClr val="E0D6DE"/>
                </a:solidFill>
                <a:latin typeface="Noto Sans TC" pitchFamily="34" charset="0"/>
                <a:ea typeface="Noto Sans TC" pitchFamily="34" charset="-122"/>
                <a:cs typeface="Noto Sans TC" pitchFamily="34" charset="-120"/>
              </a:rPr>
              <a:t>SQL is indispensable in any organisation that handles significant amounts of data. Its advantages provide a foundation for efficient data management and analysis.</a:t>
            </a:r>
            <a:endParaRPr lang="en-US" sz="1250" dirty="0"/>
          </a:p>
        </p:txBody>
      </p:sp>
      <p:sp>
        <p:nvSpPr>
          <p:cNvPr id="4" name="Shape 2"/>
          <p:cNvSpPr/>
          <p:nvPr/>
        </p:nvSpPr>
        <p:spPr>
          <a:xfrm>
            <a:off x="719634" y="1920250"/>
            <a:ext cx="3844766" cy="1807250"/>
          </a:xfrm>
          <a:prstGeom prst="roundRect">
            <a:avLst>
              <a:gd name="adj" fmla="val 6072"/>
            </a:avLst>
          </a:prstGeom>
          <a:solidFill>
            <a:srgbClr val="07070C"/>
          </a:solidFill>
          <a:ln w="22860">
            <a:solidFill>
              <a:srgbClr val="97B8FF"/>
            </a:solidFill>
            <a:prstDash val="solid"/>
          </a:ln>
        </p:spPr>
      </p:sp>
      <p:sp>
        <p:nvSpPr>
          <p:cNvPr id="5" name="Shape 3"/>
          <p:cNvSpPr/>
          <p:nvPr/>
        </p:nvSpPr>
        <p:spPr>
          <a:xfrm>
            <a:off x="696774" y="1920250"/>
            <a:ext cx="91440" cy="1807250"/>
          </a:xfrm>
          <a:prstGeom prst="roundRect">
            <a:avLst>
              <a:gd name="adj" fmla="val 26362"/>
            </a:avLst>
          </a:prstGeom>
          <a:solidFill>
            <a:srgbClr val="97B8FF"/>
          </a:solidFill>
          <a:ln/>
        </p:spPr>
      </p:sp>
      <p:sp>
        <p:nvSpPr>
          <p:cNvPr id="6" name="Text 4"/>
          <p:cNvSpPr/>
          <p:nvPr/>
        </p:nvSpPr>
        <p:spPr>
          <a:xfrm>
            <a:off x="971690" y="2103725"/>
            <a:ext cx="2395895" cy="250984"/>
          </a:xfrm>
          <a:prstGeom prst="rect">
            <a:avLst/>
          </a:prstGeom>
          <a:noFill/>
          <a:ln/>
        </p:spPr>
        <p:txBody>
          <a:bodyPr wrap="none" lIns="0" tIns="0" rIns="0" bIns="0" rtlCol="0" anchor="t"/>
          <a:lstStyle/>
          <a:p>
            <a:pPr marL="0" indent="0" algn="l">
              <a:lnSpc>
                <a:spcPts val="1950"/>
              </a:lnSpc>
              <a:buNone/>
            </a:pPr>
            <a:r>
              <a:rPr lang="en-US" sz="1550" dirty="0">
                <a:solidFill>
                  <a:srgbClr val="E0D6DE"/>
                </a:solidFill>
                <a:latin typeface="Sora Medium" pitchFamily="34" charset="0"/>
                <a:ea typeface="Sora Medium" pitchFamily="34" charset="-122"/>
                <a:cs typeface="Sora Medium" pitchFamily="34" charset="-120"/>
              </a:rPr>
              <a:t>Superior Data Handling</a:t>
            </a:r>
            <a:endParaRPr lang="en-US" sz="1550" dirty="0"/>
          </a:p>
        </p:txBody>
      </p:sp>
      <p:sp>
        <p:nvSpPr>
          <p:cNvPr id="7" name="Text 5"/>
          <p:cNvSpPr/>
          <p:nvPr/>
        </p:nvSpPr>
        <p:spPr>
          <a:xfrm>
            <a:off x="971690" y="2515324"/>
            <a:ext cx="3409236" cy="1028700"/>
          </a:xfrm>
          <a:prstGeom prst="rect">
            <a:avLst/>
          </a:prstGeom>
          <a:noFill/>
          <a:ln/>
        </p:spPr>
        <p:txBody>
          <a:bodyPr wrap="square" lIns="0" tIns="0" rIns="0" bIns="0" rtlCol="0" anchor="t"/>
          <a:lstStyle/>
          <a:p>
            <a:pPr marL="0" indent="0" algn="l">
              <a:lnSpc>
                <a:spcPts val="2000"/>
              </a:lnSpc>
              <a:buNone/>
            </a:pPr>
            <a:r>
              <a:rPr lang="en-US" sz="1250" dirty="0">
                <a:solidFill>
                  <a:srgbClr val="E0D6DE"/>
                </a:solidFill>
                <a:latin typeface="Noto Sans TC" pitchFamily="34" charset="0"/>
                <a:ea typeface="Noto Sans TC" pitchFamily="34" charset="-122"/>
                <a:cs typeface="Noto Sans TC" pitchFamily="34" charset="-120"/>
              </a:rPr>
              <a:t>SQL is built to handle large volumes of structured data that far exceed the practical limitations and performance capabilities of traditional spreadsheet applications.</a:t>
            </a:r>
            <a:endParaRPr lang="en-US" sz="1250" dirty="0"/>
          </a:p>
        </p:txBody>
      </p:sp>
      <p:sp>
        <p:nvSpPr>
          <p:cNvPr id="8" name="Shape 6"/>
          <p:cNvSpPr/>
          <p:nvPr/>
        </p:nvSpPr>
        <p:spPr>
          <a:xfrm>
            <a:off x="8363446" y="1927006"/>
            <a:ext cx="3844766" cy="1807250"/>
          </a:xfrm>
          <a:prstGeom prst="roundRect">
            <a:avLst>
              <a:gd name="adj" fmla="val 6072"/>
            </a:avLst>
          </a:prstGeom>
          <a:solidFill>
            <a:srgbClr val="07070C"/>
          </a:solidFill>
          <a:ln w="22860">
            <a:solidFill>
              <a:srgbClr val="7AF0FF"/>
            </a:solidFill>
            <a:prstDash val="solid"/>
          </a:ln>
        </p:spPr>
      </p:sp>
      <p:sp>
        <p:nvSpPr>
          <p:cNvPr id="9" name="Shape 7"/>
          <p:cNvSpPr/>
          <p:nvPr/>
        </p:nvSpPr>
        <p:spPr>
          <a:xfrm>
            <a:off x="8340586" y="1927006"/>
            <a:ext cx="91440" cy="1807250"/>
          </a:xfrm>
          <a:prstGeom prst="roundRect">
            <a:avLst>
              <a:gd name="adj" fmla="val 26362"/>
            </a:avLst>
          </a:prstGeom>
          <a:solidFill>
            <a:srgbClr val="7AF0FF"/>
          </a:solidFill>
          <a:ln/>
        </p:spPr>
      </p:sp>
      <p:sp>
        <p:nvSpPr>
          <p:cNvPr id="10" name="Text 8"/>
          <p:cNvSpPr/>
          <p:nvPr/>
        </p:nvSpPr>
        <p:spPr>
          <a:xfrm>
            <a:off x="8615501" y="2110481"/>
            <a:ext cx="2328386" cy="250984"/>
          </a:xfrm>
          <a:prstGeom prst="rect">
            <a:avLst/>
          </a:prstGeom>
          <a:noFill/>
          <a:ln/>
        </p:spPr>
        <p:txBody>
          <a:bodyPr wrap="none" lIns="0" tIns="0" rIns="0" bIns="0" rtlCol="0" anchor="t"/>
          <a:lstStyle/>
          <a:p>
            <a:pPr marL="0" indent="0" algn="l">
              <a:lnSpc>
                <a:spcPts val="1950"/>
              </a:lnSpc>
              <a:buNone/>
            </a:pPr>
            <a:r>
              <a:rPr lang="en-US" sz="1550" dirty="0">
                <a:solidFill>
                  <a:srgbClr val="E0D6DE"/>
                </a:solidFill>
                <a:latin typeface="Sora Medium" pitchFamily="34" charset="0"/>
                <a:ea typeface="Sora Medium" pitchFamily="34" charset="-122"/>
                <a:cs typeface="Sora Medium" pitchFamily="34" charset="-120"/>
              </a:rPr>
              <a:t>Speed and Complexity</a:t>
            </a:r>
            <a:endParaRPr lang="en-US" sz="1550" dirty="0"/>
          </a:p>
        </p:txBody>
      </p:sp>
      <p:sp>
        <p:nvSpPr>
          <p:cNvPr id="11" name="Text 9"/>
          <p:cNvSpPr/>
          <p:nvPr/>
        </p:nvSpPr>
        <p:spPr>
          <a:xfrm>
            <a:off x="8615501" y="2522080"/>
            <a:ext cx="3409236" cy="1028700"/>
          </a:xfrm>
          <a:prstGeom prst="rect">
            <a:avLst/>
          </a:prstGeom>
          <a:noFill/>
          <a:ln/>
        </p:spPr>
        <p:txBody>
          <a:bodyPr wrap="square" lIns="0" tIns="0" rIns="0" bIns="0" rtlCol="0" anchor="t"/>
          <a:lstStyle/>
          <a:p>
            <a:pPr marL="0" indent="0" algn="l">
              <a:lnSpc>
                <a:spcPts val="2000"/>
              </a:lnSpc>
              <a:buNone/>
            </a:pPr>
            <a:r>
              <a:rPr lang="en-US" sz="1250" dirty="0">
                <a:solidFill>
                  <a:srgbClr val="E0D6DE"/>
                </a:solidFill>
                <a:latin typeface="Noto Sans TC" pitchFamily="34" charset="0"/>
                <a:ea typeface="Noto Sans TC" pitchFamily="34" charset="-122"/>
                <a:cs typeface="Noto Sans TC" pitchFamily="34" charset="-120"/>
              </a:rPr>
              <a:t>It allows for lightning-fast data retrieval and the execution of complex queries, enabling sophisticated data joining, aggregation, and filtering across multiple tables.</a:t>
            </a:r>
            <a:endParaRPr lang="en-US" sz="1250" dirty="0"/>
          </a:p>
        </p:txBody>
      </p:sp>
      <p:sp>
        <p:nvSpPr>
          <p:cNvPr id="12" name="Shape 10"/>
          <p:cNvSpPr/>
          <p:nvPr/>
        </p:nvSpPr>
        <p:spPr>
          <a:xfrm>
            <a:off x="4587260" y="4125298"/>
            <a:ext cx="3844766" cy="1807250"/>
          </a:xfrm>
          <a:prstGeom prst="roundRect">
            <a:avLst>
              <a:gd name="adj" fmla="val 6072"/>
            </a:avLst>
          </a:prstGeom>
          <a:solidFill>
            <a:srgbClr val="07070C"/>
          </a:solidFill>
          <a:ln w="22860">
            <a:solidFill>
              <a:srgbClr val="120336"/>
            </a:solidFill>
            <a:prstDash val="solid"/>
          </a:ln>
        </p:spPr>
      </p:sp>
      <p:sp>
        <p:nvSpPr>
          <p:cNvPr id="13" name="Shape 11"/>
          <p:cNvSpPr/>
          <p:nvPr/>
        </p:nvSpPr>
        <p:spPr>
          <a:xfrm>
            <a:off x="4564400" y="4125298"/>
            <a:ext cx="91440" cy="1807250"/>
          </a:xfrm>
          <a:prstGeom prst="roundRect">
            <a:avLst>
              <a:gd name="adj" fmla="val 26362"/>
            </a:avLst>
          </a:prstGeom>
          <a:solidFill>
            <a:srgbClr val="120336"/>
          </a:solidFill>
          <a:ln/>
        </p:spPr>
      </p:sp>
      <p:sp>
        <p:nvSpPr>
          <p:cNvPr id="14" name="Text 12"/>
          <p:cNvSpPr/>
          <p:nvPr/>
        </p:nvSpPr>
        <p:spPr>
          <a:xfrm>
            <a:off x="4839316" y="4308773"/>
            <a:ext cx="2008703" cy="250984"/>
          </a:xfrm>
          <a:prstGeom prst="rect">
            <a:avLst/>
          </a:prstGeom>
          <a:noFill/>
          <a:ln/>
        </p:spPr>
        <p:txBody>
          <a:bodyPr wrap="none" lIns="0" tIns="0" rIns="0" bIns="0" rtlCol="0" anchor="t"/>
          <a:lstStyle/>
          <a:p>
            <a:pPr marL="0" indent="0" algn="l">
              <a:lnSpc>
                <a:spcPts val="1950"/>
              </a:lnSpc>
              <a:buNone/>
            </a:pPr>
            <a:r>
              <a:rPr lang="en-US" sz="1550" dirty="0">
                <a:solidFill>
                  <a:srgbClr val="E0D6DE"/>
                </a:solidFill>
                <a:latin typeface="Sora Medium" pitchFamily="34" charset="0"/>
                <a:ea typeface="Sora Medium" pitchFamily="34" charset="-122"/>
                <a:cs typeface="Sora Medium" pitchFamily="34" charset="-120"/>
              </a:rPr>
              <a:t>Accessible Syntax</a:t>
            </a:r>
            <a:endParaRPr lang="en-US" sz="1550" dirty="0"/>
          </a:p>
        </p:txBody>
      </p:sp>
      <p:sp>
        <p:nvSpPr>
          <p:cNvPr id="15" name="Text 13"/>
          <p:cNvSpPr/>
          <p:nvPr/>
        </p:nvSpPr>
        <p:spPr>
          <a:xfrm>
            <a:off x="4839316" y="4720372"/>
            <a:ext cx="3409236" cy="1028700"/>
          </a:xfrm>
          <a:prstGeom prst="rect">
            <a:avLst/>
          </a:prstGeom>
          <a:noFill/>
          <a:ln/>
        </p:spPr>
        <p:txBody>
          <a:bodyPr wrap="square" lIns="0" tIns="0" rIns="0" bIns="0" rtlCol="0" anchor="t"/>
          <a:lstStyle/>
          <a:p>
            <a:pPr marL="0" indent="0" algn="l">
              <a:lnSpc>
                <a:spcPts val="2000"/>
              </a:lnSpc>
              <a:buNone/>
            </a:pPr>
            <a:r>
              <a:rPr lang="en-US" sz="1250" dirty="0">
                <a:solidFill>
                  <a:srgbClr val="E0D6DE"/>
                </a:solidFill>
                <a:latin typeface="Noto Sans TC" pitchFamily="34" charset="0"/>
                <a:ea typeface="Noto Sans TC" pitchFamily="34" charset="-122"/>
                <a:cs typeface="Noto Sans TC" pitchFamily="34" charset="-120"/>
              </a:rPr>
              <a:t>The language is relatively easy to learn and read, as its syntax is based on simple, descriptive English keywords (e.g., SELECT, INSERT, WHERE).</a:t>
            </a:r>
            <a:endParaRPr lang="en-US" sz="1250" dirty="0"/>
          </a:p>
        </p:txBody>
      </p:sp>
      <p:sp>
        <p:nvSpPr>
          <p:cNvPr id="17" name="Text 14"/>
          <p:cNvSpPr/>
          <p:nvPr/>
        </p:nvSpPr>
        <p:spPr>
          <a:xfrm>
            <a:off x="642699" y="5996522"/>
            <a:ext cx="11919114" cy="1590491"/>
          </a:xfrm>
          <a:prstGeom prst="rect">
            <a:avLst/>
          </a:prstGeom>
          <a:noFill/>
          <a:ln/>
        </p:spPr>
        <p:txBody>
          <a:bodyPr wrap="square" lIns="0" tIns="0" rIns="0" bIns="0" rtlCol="0" anchor="t"/>
          <a:lstStyle/>
          <a:p>
            <a:pPr marL="285750" indent="-285750" algn="just">
              <a:lnSpc>
                <a:spcPts val="2000"/>
              </a:lnSpc>
              <a:buFont typeface="Arial" panose="020B0604020202020204" pitchFamily="34" charset="0"/>
              <a:buChar char="•"/>
            </a:pPr>
            <a:r>
              <a:rPr lang="en-US" sz="1250" dirty="0">
                <a:solidFill>
                  <a:srgbClr val="E0D6DE"/>
                </a:solidFill>
                <a:latin typeface="Noto Sans TC" pitchFamily="34" charset="0"/>
                <a:ea typeface="Noto Sans TC" pitchFamily="34" charset="-122"/>
                <a:cs typeface="Noto Sans TC" pitchFamily="34" charset="-120"/>
              </a:rPr>
              <a:t>SQL skills are considered essential for anyone working in data analysis, business intelligence, software development, or dedicated database administration roles</a:t>
            </a:r>
            <a:r>
              <a:rPr lang="en-US" sz="1250" dirty="0" smtClean="0">
                <a:solidFill>
                  <a:srgbClr val="E0D6DE"/>
                </a:solidFill>
                <a:latin typeface="Noto Sans TC" pitchFamily="34" charset="0"/>
                <a:ea typeface="Noto Sans TC" pitchFamily="34" charset="-122"/>
                <a:cs typeface="Noto Sans TC" pitchFamily="34" charset="-120"/>
              </a:rPr>
              <a:t>.</a:t>
            </a:r>
          </a:p>
          <a:p>
            <a:pPr marL="285750" indent="-285750" algn="just">
              <a:lnSpc>
                <a:spcPts val="2000"/>
              </a:lnSpc>
              <a:buFont typeface="Arial" panose="020B0604020202020204" pitchFamily="34" charset="0"/>
              <a:buChar char="•"/>
            </a:pPr>
            <a:endParaRPr lang="en-US" sz="1250" dirty="0" smtClean="0">
              <a:solidFill>
                <a:srgbClr val="E0D6DE"/>
              </a:solidFill>
              <a:latin typeface="Noto Sans TC" pitchFamily="34" charset="0"/>
              <a:ea typeface="Noto Sans TC" pitchFamily="34" charset="-122"/>
              <a:cs typeface="Noto Sans TC" pitchFamily="34" charset="-120"/>
            </a:endParaRPr>
          </a:p>
          <a:p>
            <a:pPr marL="285750" indent="-285750" algn="just">
              <a:buFont typeface="Arial" panose="020B0604020202020204" pitchFamily="34" charset="0"/>
              <a:buChar char="•"/>
            </a:pPr>
            <a:r>
              <a:rPr lang="en-US" sz="1250" dirty="0">
                <a:solidFill>
                  <a:schemeClr val="bg1">
                    <a:lumMod val="85000"/>
                  </a:schemeClr>
                </a:solidFill>
                <a:latin typeface="Noto Sans TC" panose="020B0604020202020204" charset="-128"/>
                <a:ea typeface="Noto Sans TC" panose="020B0604020202020204" charset="-128"/>
              </a:rPr>
              <a:t>SQL (Structured Query Language) is used because it is the universal language for managing and interacting with relational databases. Its main purpose is to allow people and applications to communicate with a database to store, retrieve, update, and manipulate large amounts of structured data efficiently</a:t>
            </a:r>
            <a:r>
              <a:rPr lang="en-US" sz="1250" dirty="0" smtClean="0">
                <a:solidFill>
                  <a:schemeClr val="bg1">
                    <a:lumMod val="85000"/>
                  </a:schemeClr>
                </a:solidFill>
                <a:latin typeface="Noto Sans TC" panose="020B0604020202020204" charset="-128"/>
                <a:ea typeface="Noto Sans TC" panose="020B0604020202020204" charset="-128"/>
              </a:rPr>
              <a:t>.</a:t>
            </a:r>
          </a:p>
          <a:p>
            <a:pPr marL="285750" indent="-285750" algn="just">
              <a:buFont typeface="Arial" panose="020B0604020202020204" pitchFamily="34" charset="0"/>
              <a:buChar char="•"/>
            </a:pPr>
            <a:endParaRPr lang="en-US" sz="1250" dirty="0">
              <a:solidFill>
                <a:schemeClr val="bg1">
                  <a:lumMod val="85000"/>
                </a:schemeClr>
              </a:solidFill>
              <a:latin typeface="Noto Sans TC" panose="020B0604020202020204" charset="-128"/>
              <a:ea typeface="Noto Sans TC" panose="020B0604020202020204" charset="-128"/>
            </a:endParaRPr>
          </a:p>
          <a:p>
            <a:pPr marL="285750" indent="-285750" algn="just">
              <a:buFont typeface="Arial" panose="020B0604020202020204" pitchFamily="34" charset="0"/>
              <a:buChar char="•"/>
            </a:pPr>
            <a:r>
              <a:rPr lang="en-US" sz="1250" dirty="0">
                <a:solidFill>
                  <a:schemeClr val="bg1">
                    <a:lumMod val="85000"/>
                  </a:schemeClr>
                </a:solidFill>
                <a:latin typeface="Noto Sans TC" panose="020B0604020202020204" charset="-128"/>
                <a:ea typeface="Noto Sans TC" panose="020B0604020202020204" charset="-128"/>
              </a:rPr>
              <a:t>Almost every application that handles data, from a banking app to a social media website, uses SQL on the back end. It is essential for data analysts, developers, and scientists to run complex queries, perform analysis, and generate reports. Its power, security features, and ability to handle huge datasets make it a critical tool in modern technology.</a:t>
            </a:r>
          </a:p>
          <a:p>
            <a:pPr marL="285750" indent="-285750" algn="l">
              <a:lnSpc>
                <a:spcPts val="2000"/>
              </a:lnSpc>
              <a:buFont typeface="Arial" panose="020B0604020202020204" pitchFamily="34" charset="0"/>
              <a:buChar char="•"/>
            </a:pPr>
            <a:endParaRPr lang="en-US" sz="1250" dirty="0">
              <a:solidFill>
                <a:schemeClr val="bg1">
                  <a:lumMod val="85000"/>
                </a:schemeClr>
              </a:solidFill>
            </a:endParaRPr>
          </a:p>
        </p:txBody>
      </p:sp>
      <p:pic>
        <p:nvPicPr>
          <p:cNvPr id="18" name="Picture 17"/>
          <p:cNvPicPr>
            <a:picLocks noChangeAspect="1"/>
          </p:cNvPicPr>
          <p:nvPr/>
        </p:nvPicPr>
        <p:blipFill>
          <a:blip r:embed="rId3"/>
          <a:stretch>
            <a:fillRect/>
          </a:stretch>
        </p:blipFill>
        <p:spPr>
          <a:xfrm>
            <a:off x="12208212" y="7762672"/>
            <a:ext cx="2422188" cy="3571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12376"/>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97B8FF"/>
                </a:solidFill>
                <a:latin typeface="Sora Medium" pitchFamily="34" charset="0"/>
                <a:ea typeface="Sora Medium" pitchFamily="34" charset="-122"/>
                <a:cs typeface="Sora Medium" pitchFamily="34" charset="-120"/>
              </a:rPr>
              <a:t>Core SQL Commands: Data Manipulation Language (DML)</a:t>
            </a:r>
            <a:endParaRPr lang="en-US" sz="3900" dirty="0"/>
          </a:p>
        </p:txBody>
      </p:sp>
      <p:sp>
        <p:nvSpPr>
          <p:cNvPr id="3" name="Text 1"/>
          <p:cNvSpPr/>
          <p:nvPr/>
        </p:nvSpPr>
        <p:spPr>
          <a:xfrm>
            <a:off x="793790" y="254936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The most frequently used commands in SQL fall under the category of Data Manipulation Language (DML). These four commands are the foundation for nearly all interaction with data records.</a:t>
            </a:r>
            <a:endParaRPr lang="en-US" sz="15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793790" y="3407688"/>
            <a:ext cx="595313" cy="595313"/>
          </a:xfrm>
          <a:prstGeom prst="rect">
            <a:avLst/>
          </a:prstGeom>
        </p:spPr>
      </p:pic>
      <p:sp>
        <p:nvSpPr>
          <p:cNvPr id="5" name="Text 2"/>
          <p:cNvSpPr/>
          <p:nvPr/>
        </p:nvSpPr>
        <p:spPr>
          <a:xfrm>
            <a:off x="1637109" y="3544133"/>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E0D6DE"/>
                </a:solidFill>
                <a:latin typeface="Sora Medium" pitchFamily="34" charset="0"/>
                <a:ea typeface="Sora Medium" pitchFamily="34" charset="-122"/>
                <a:cs typeface="Sora Medium" pitchFamily="34" charset="-120"/>
              </a:rPr>
              <a:t>SELECT</a:t>
            </a:r>
            <a:endParaRPr lang="en-US" sz="2300" dirty="0"/>
          </a:p>
        </p:txBody>
      </p:sp>
      <p:sp>
        <p:nvSpPr>
          <p:cNvPr id="6" name="Text 3"/>
          <p:cNvSpPr/>
          <p:nvPr/>
        </p:nvSpPr>
        <p:spPr>
          <a:xfrm>
            <a:off x="1637109" y="4035266"/>
            <a:ext cx="5554028"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Used to retrieve specific data records from one or more tables. This is the 'Read' operation.</a:t>
            </a:r>
            <a:endParaRPr lang="en-US" sz="155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7439144" y="3407688"/>
            <a:ext cx="595313" cy="595313"/>
          </a:xfrm>
          <a:prstGeom prst="rect">
            <a:avLst/>
          </a:prstGeom>
        </p:spPr>
      </p:pic>
      <p:sp>
        <p:nvSpPr>
          <p:cNvPr id="8" name="Text 4"/>
          <p:cNvSpPr/>
          <p:nvPr/>
        </p:nvSpPr>
        <p:spPr>
          <a:xfrm>
            <a:off x="8282464" y="3544133"/>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E0D6DE"/>
                </a:solidFill>
                <a:latin typeface="Sora Medium" pitchFamily="34" charset="0"/>
                <a:ea typeface="Sora Medium" pitchFamily="34" charset="-122"/>
                <a:cs typeface="Sora Medium" pitchFamily="34" charset="-120"/>
              </a:rPr>
              <a:t>INSERT</a:t>
            </a:r>
            <a:endParaRPr lang="en-US" sz="2300" dirty="0"/>
          </a:p>
        </p:txBody>
      </p:sp>
      <p:sp>
        <p:nvSpPr>
          <p:cNvPr id="9" name="Text 5"/>
          <p:cNvSpPr/>
          <p:nvPr/>
        </p:nvSpPr>
        <p:spPr>
          <a:xfrm>
            <a:off x="8282464" y="4035266"/>
            <a:ext cx="5554147"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Used to add new rows or records of data into a table. This represents the 'Create' action.</a:t>
            </a:r>
            <a:endParaRPr lang="en-US" sz="155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793790" y="5067181"/>
            <a:ext cx="595313" cy="595313"/>
          </a:xfrm>
          <a:prstGeom prst="rect">
            <a:avLst/>
          </a:prstGeom>
        </p:spPr>
      </p:pic>
      <p:sp>
        <p:nvSpPr>
          <p:cNvPr id="11" name="Text 6"/>
          <p:cNvSpPr/>
          <p:nvPr/>
        </p:nvSpPr>
        <p:spPr>
          <a:xfrm>
            <a:off x="1637109" y="5203627"/>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E0D6DE"/>
                </a:solidFill>
                <a:latin typeface="Sora Medium" pitchFamily="34" charset="0"/>
                <a:ea typeface="Sora Medium" pitchFamily="34" charset="-122"/>
                <a:cs typeface="Sora Medium" pitchFamily="34" charset="-120"/>
              </a:rPr>
              <a:t>UPDATE</a:t>
            </a:r>
            <a:endParaRPr lang="en-US" sz="2300" dirty="0"/>
          </a:p>
        </p:txBody>
      </p:sp>
      <p:sp>
        <p:nvSpPr>
          <p:cNvPr id="12" name="Text 7"/>
          <p:cNvSpPr/>
          <p:nvPr/>
        </p:nvSpPr>
        <p:spPr>
          <a:xfrm>
            <a:off x="1637109" y="5694759"/>
            <a:ext cx="5554028"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Used to modify existing data values within the rows of a table. This is the 'Update' operation.</a:t>
            </a:r>
            <a:endParaRPr lang="en-US" sz="1550" dirty="0"/>
          </a:p>
        </p:txBody>
      </p:sp>
      <p:pic>
        <p:nvPicPr>
          <p:cNvPr id="13" name="Image 3" descr="preencoded.png"/>
          <p:cNvPicPr>
            <a:picLocks noChangeAspect="1"/>
          </p:cNvPicPr>
          <p:nvPr/>
        </p:nvPicPr>
        <p:blipFill>
          <a:blip r:embed="rId3">
            <a:extLst>
              <a:ext uri="{96DAC541-7B7A-43D3-8B79-37D633B846F1}">
                <asvg:svgBlip xmlns:asvg="http://schemas.microsoft.com/office/drawing/2016/SVG/main" xmlns="" r:embed="rId8"/>
              </a:ext>
            </a:extLst>
          </a:blip>
          <a:stretch>
            <a:fillRect/>
          </a:stretch>
        </p:blipFill>
        <p:spPr>
          <a:xfrm>
            <a:off x="7439144" y="5067181"/>
            <a:ext cx="595313" cy="595313"/>
          </a:xfrm>
          <a:prstGeom prst="rect">
            <a:avLst/>
          </a:prstGeom>
        </p:spPr>
      </p:pic>
      <p:sp>
        <p:nvSpPr>
          <p:cNvPr id="14" name="Text 8"/>
          <p:cNvSpPr/>
          <p:nvPr/>
        </p:nvSpPr>
        <p:spPr>
          <a:xfrm>
            <a:off x="8282464" y="5203627"/>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E0D6DE"/>
                </a:solidFill>
                <a:latin typeface="Sora Medium" pitchFamily="34" charset="0"/>
                <a:ea typeface="Sora Medium" pitchFamily="34" charset="-122"/>
                <a:cs typeface="Sora Medium" pitchFamily="34" charset="-120"/>
              </a:rPr>
              <a:t>DELETE</a:t>
            </a:r>
            <a:endParaRPr lang="en-US" sz="2300" dirty="0"/>
          </a:p>
        </p:txBody>
      </p:sp>
      <p:sp>
        <p:nvSpPr>
          <p:cNvPr id="15" name="Text 9"/>
          <p:cNvSpPr/>
          <p:nvPr/>
        </p:nvSpPr>
        <p:spPr>
          <a:xfrm>
            <a:off x="8282464" y="5694759"/>
            <a:ext cx="5554147"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Used to remove existing rows or records from a table. This completes the 'Delete' operation.</a:t>
            </a:r>
            <a:endParaRPr lang="en-US" sz="1550" dirty="0"/>
          </a:p>
        </p:txBody>
      </p:sp>
      <p:sp>
        <p:nvSpPr>
          <p:cNvPr id="16" name="Text 10"/>
          <p:cNvSpPr/>
          <p:nvPr/>
        </p:nvSpPr>
        <p:spPr>
          <a:xfrm>
            <a:off x="1091446" y="6776323"/>
            <a:ext cx="12745164" cy="317540"/>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Mastering these four commands is the gateway to effectively querying and modifying data in any relational database environment.</a:t>
            </a:r>
            <a:endParaRPr lang="en-US" sz="1550" dirty="0"/>
          </a:p>
        </p:txBody>
      </p:sp>
      <p:sp>
        <p:nvSpPr>
          <p:cNvPr id="17" name="Shape 11"/>
          <p:cNvSpPr/>
          <p:nvPr/>
        </p:nvSpPr>
        <p:spPr>
          <a:xfrm>
            <a:off x="793790" y="6553081"/>
            <a:ext cx="22860" cy="764024"/>
          </a:xfrm>
          <a:prstGeom prst="rect">
            <a:avLst/>
          </a:prstGeom>
          <a:solidFill>
            <a:srgbClr val="97B8FF"/>
          </a:solidFill>
          <a:ln/>
        </p:spPr>
      </p:sp>
      <p:pic>
        <p:nvPicPr>
          <p:cNvPr id="18" name="Picture 17"/>
          <p:cNvPicPr>
            <a:picLocks noChangeAspect="1"/>
          </p:cNvPicPr>
          <p:nvPr/>
        </p:nvPicPr>
        <p:blipFill>
          <a:blip r:embed="rId9"/>
          <a:stretch>
            <a:fillRect/>
          </a:stretch>
        </p:blipFill>
        <p:spPr>
          <a:xfrm>
            <a:off x="12208212" y="7524424"/>
            <a:ext cx="2422188" cy="5953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81276"/>
            <a:ext cx="8184833" cy="620078"/>
          </a:xfrm>
          <a:prstGeom prst="rect">
            <a:avLst/>
          </a:prstGeom>
          <a:noFill/>
          <a:ln/>
        </p:spPr>
        <p:txBody>
          <a:bodyPr wrap="none" lIns="0" tIns="0" rIns="0" bIns="0" rtlCol="0" anchor="t"/>
          <a:lstStyle/>
          <a:p>
            <a:pPr marL="0" indent="0" algn="l">
              <a:lnSpc>
                <a:spcPts val="4850"/>
              </a:lnSpc>
              <a:buNone/>
            </a:pPr>
            <a:r>
              <a:rPr lang="en-US" sz="3900" dirty="0">
                <a:solidFill>
                  <a:srgbClr val="97B8FF"/>
                </a:solidFill>
                <a:latin typeface="Sora Medium" pitchFamily="34" charset="0"/>
                <a:ea typeface="Sora Medium" pitchFamily="34" charset="-122"/>
                <a:cs typeface="Sora Medium" pitchFamily="34" charset="-120"/>
              </a:rPr>
              <a:t>SQL Structure and Syntax Basics</a:t>
            </a:r>
            <a:endParaRPr lang="en-US" sz="3900" dirty="0"/>
          </a:p>
        </p:txBody>
      </p:sp>
      <p:sp>
        <p:nvSpPr>
          <p:cNvPr id="3" name="Text 1"/>
          <p:cNvSpPr/>
          <p:nvPr/>
        </p:nvSpPr>
        <p:spPr>
          <a:xfrm>
            <a:off x="793790" y="169818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Every SQL statement follows a logical structure defined by clauses. Understanding the order and function of these clauses is crucial for writing effective queries.</a:t>
            </a:r>
            <a:endParaRPr lang="en-US" sz="1550" dirty="0"/>
          </a:p>
        </p:txBody>
      </p:sp>
      <p:sp>
        <p:nvSpPr>
          <p:cNvPr id="4" name="Text 2"/>
          <p:cNvSpPr/>
          <p:nvPr/>
        </p:nvSpPr>
        <p:spPr>
          <a:xfrm>
            <a:off x="793790" y="255651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Sora Light" pitchFamily="34" charset="0"/>
                <a:ea typeface="Sora Light" pitchFamily="34" charset="-122"/>
                <a:cs typeface="Sora Light" pitchFamily="34" charset="-120"/>
              </a:rPr>
              <a:t>01</a:t>
            </a:r>
            <a:endParaRPr lang="en-US" sz="1550" dirty="0"/>
          </a:p>
        </p:txBody>
      </p:sp>
      <p:pic>
        <p:nvPicPr>
          <p:cNvPr id="5" name="Image 0" descr="preencoded.png"/>
          <p:cNvPicPr>
            <a:picLocks noChangeAspect="1"/>
          </p:cNvPicPr>
          <p:nvPr/>
        </p:nvPicPr>
        <p:blipFill>
          <a:blip r:embed="rId3"/>
          <a:stretch>
            <a:fillRect/>
          </a:stretch>
        </p:blipFill>
        <p:spPr>
          <a:xfrm>
            <a:off x="793790" y="2870835"/>
            <a:ext cx="6422231" cy="22860"/>
          </a:xfrm>
          <a:prstGeom prst="rect">
            <a:avLst/>
          </a:prstGeom>
        </p:spPr>
      </p:pic>
      <p:sp>
        <p:nvSpPr>
          <p:cNvPr id="6" name="Text 3"/>
          <p:cNvSpPr/>
          <p:nvPr/>
        </p:nvSpPr>
        <p:spPr>
          <a:xfrm>
            <a:off x="793790" y="301573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0D6DE"/>
                </a:solidFill>
                <a:latin typeface="Sora Medium" pitchFamily="34" charset="0"/>
                <a:ea typeface="Sora Medium" pitchFamily="34" charset="-122"/>
                <a:cs typeface="Sora Medium" pitchFamily="34" charset="-120"/>
              </a:rPr>
              <a:t>SELECT Clause</a:t>
            </a:r>
            <a:endParaRPr lang="en-US" sz="1950" dirty="0"/>
          </a:p>
        </p:txBody>
      </p:sp>
      <p:sp>
        <p:nvSpPr>
          <p:cNvPr id="7" name="Text 4"/>
          <p:cNvSpPr/>
          <p:nvPr/>
        </p:nvSpPr>
        <p:spPr>
          <a:xfrm>
            <a:off x="793790" y="3444954"/>
            <a:ext cx="6422231" cy="317540"/>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Specifies the columns (fields) you want to retrieve.</a:t>
            </a:r>
            <a:endParaRPr lang="en-US" sz="1550" dirty="0"/>
          </a:p>
        </p:txBody>
      </p:sp>
      <p:sp>
        <p:nvSpPr>
          <p:cNvPr id="8" name="Text 5"/>
          <p:cNvSpPr/>
          <p:nvPr/>
        </p:nvSpPr>
        <p:spPr>
          <a:xfrm>
            <a:off x="7414379" y="255651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Sora Light" pitchFamily="34" charset="0"/>
                <a:ea typeface="Sora Light" pitchFamily="34" charset="-122"/>
                <a:cs typeface="Sora Light" pitchFamily="34" charset="-120"/>
              </a:rPr>
              <a:t>02</a:t>
            </a:r>
            <a:endParaRPr lang="en-US" sz="1550" dirty="0"/>
          </a:p>
        </p:txBody>
      </p:sp>
      <p:pic>
        <p:nvPicPr>
          <p:cNvPr id="9" name="Image 1" descr="preencoded.png"/>
          <p:cNvPicPr>
            <a:picLocks noChangeAspect="1"/>
          </p:cNvPicPr>
          <p:nvPr/>
        </p:nvPicPr>
        <p:blipFill>
          <a:blip r:embed="rId3"/>
          <a:stretch>
            <a:fillRect/>
          </a:stretch>
        </p:blipFill>
        <p:spPr>
          <a:xfrm>
            <a:off x="7414379" y="2870835"/>
            <a:ext cx="6422231" cy="22860"/>
          </a:xfrm>
          <a:prstGeom prst="rect">
            <a:avLst/>
          </a:prstGeom>
        </p:spPr>
      </p:pic>
      <p:sp>
        <p:nvSpPr>
          <p:cNvPr id="10" name="Text 6"/>
          <p:cNvSpPr/>
          <p:nvPr/>
        </p:nvSpPr>
        <p:spPr>
          <a:xfrm>
            <a:off x="7414379" y="301573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0D6DE"/>
                </a:solidFill>
                <a:latin typeface="Sora Medium" pitchFamily="34" charset="0"/>
                <a:ea typeface="Sora Medium" pitchFamily="34" charset="-122"/>
                <a:cs typeface="Sora Medium" pitchFamily="34" charset="-120"/>
              </a:rPr>
              <a:t>FROM Clause</a:t>
            </a:r>
            <a:endParaRPr lang="en-US" sz="1950" dirty="0"/>
          </a:p>
        </p:txBody>
      </p:sp>
      <p:sp>
        <p:nvSpPr>
          <p:cNvPr id="11" name="Text 7"/>
          <p:cNvSpPr/>
          <p:nvPr/>
        </p:nvSpPr>
        <p:spPr>
          <a:xfrm>
            <a:off x="7414379" y="3444954"/>
            <a:ext cx="6422231" cy="317540"/>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Specifies the table(s) from which the data will be queried.</a:t>
            </a:r>
            <a:endParaRPr lang="en-US" sz="1550" dirty="0"/>
          </a:p>
        </p:txBody>
      </p:sp>
      <p:sp>
        <p:nvSpPr>
          <p:cNvPr id="12" name="Text 8"/>
          <p:cNvSpPr/>
          <p:nvPr/>
        </p:nvSpPr>
        <p:spPr>
          <a:xfrm>
            <a:off x="793790" y="410968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Sora Light" pitchFamily="34" charset="0"/>
                <a:ea typeface="Sora Light" pitchFamily="34" charset="-122"/>
                <a:cs typeface="Sora Light" pitchFamily="34" charset="-120"/>
              </a:rPr>
              <a:t>03</a:t>
            </a:r>
            <a:endParaRPr lang="en-US" sz="1550" dirty="0"/>
          </a:p>
        </p:txBody>
      </p:sp>
      <p:pic>
        <p:nvPicPr>
          <p:cNvPr id="13" name="Image 2" descr="preencoded.png"/>
          <p:cNvPicPr>
            <a:picLocks noChangeAspect="1"/>
          </p:cNvPicPr>
          <p:nvPr/>
        </p:nvPicPr>
        <p:blipFill>
          <a:blip r:embed="rId3"/>
          <a:stretch>
            <a:fillRect/>
          </a:stretch>
        </p:blipFill>
        <p:spPr>
          <a:xfrm>
            <a:off x="793790" y="4404241"/>
            <a:ext cx="6422231" cy="22860"/>
          </a:xfrm>
          <a:prstGeom prst="rect">
            <a:avLst/>
          </a:prstGeom>
        </p:spPr>
      </p:pic>
      <p:sp>
        <p:nvSpPr>
          <p:cNvPr id="14" name="Text 9"/>
          <p:cNvSpPr/>
          <p:nvPr/>
        </p:nvSpPr>
        <p:spPr>
          <a:xfrm>
            <a:off x="793790" y="456890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E0D6DE"/>
                </a:solidFill>
                <a:latin typeface="Sora Medium" pitchFamily="34" charset="0"/>
                <a:ea typeface="Sora Medium" pitchFamily="34" charset="-122"/>
                <a:cs typeface="Sora Medium" pitchFamily="34" charset="-120"/>
              </a:rPr>
              <a:t>WHERE Clause</a:t>
            </a:r>
            <a:endParaRPr lang="en-US" sz="1950" dirty="0"/>
          </a:p>
        </p:txBody>
      </p:sp>
      <p:sp>
        <p:nvSpPr>
          <p:cNvPr id="15" name="Text 10"/>
          <p:cNvSpPr/>
          <p:nvPr/>
        </p:nvSpPr>
        <p:spPr>
          <a:xfrm>
            <a:off x="793790" y="4998125"/>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Filters the records based on specified criteria. Only rows that meet the condition are included.</a:t>
            </a:r>
            <a:endParaRPr lang="en-US" sz="1550" dirty="0"/>
          </a:p>
        </p:txBody>
      </p:sp>
      <p:sp>
        <p:nvSpPr>
          <p:cNvPr id="16" name="Text 11"/>
          <p:cNvSpPr/>
          <p:nvPr/>
        </p:nvSpPr>
        <p:spPr>
          <a:xfrm>
            <a:off x="7414379" y="410968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latin typeface="Sora Light" pitchFamily="34" charset="0"/>
                <a:ea typeface="Sora Light" pitchFamily="34" charset="-122"/>
                <a:cs typeface="Sora Light" pitchFamily="34" charset="-120"/>
              </a:rPr>
              <a:t>04</a:t>
            </a:r>
            <a:endParaRPr lang="en-US" sz="1550" dirty="0"/>
          </a:p>
        </p:txBody>
      </p:sp>
      <p:pic>
        <p:nvPicPr>
          <p:cNvPr id="17" name="Image 3" descr="preencoded.png"/>
          <p:cNvPicPr>
            <a:picLocks noChangeAspect="1"/>
          </p:cNvPicPr>
          <p:nvPr/>
        </p:nvPicPr>
        <p:blipFill>
          <a:blip r:embed="rId3"/>
          <a:stretch>
            <a:fillRect/>
          </a:stretch>
        </p:blipFill>
        <p:spPr>
          <a:xfrm>
            <a:off x="7414379" y="4404241"/>
            <a:ext cx="6422231" cy="22860"/>
          </a:xfrm>
          <a:prstGeom prst="rect">
            <a:avLst/>
          </a:prstGeom>
        </p:spPr>
      </p:pic>
      <p:sp>
        <p:nvSpPr>
          <p:cNvPr id="18" name="Text 12"/>
          <p:cNvSpPr/>
          <p:nvPr/>
        </p:nvSpPr>
        <p:spPr>
          <a:xfrm>
            <a:off x="7414379" y="4568904"/>
            <a:ext cx="2820829" cy="310158"/>
          </a:xfrm>
          <a:prstGeom prst="rect">
            <a:avLst/>
          </a:prstGeom>
          <a:noFill/>
          <a:ln/>
        </p:spPr>
        <p:txBody>
          <a:bodyPr wrap="none" lIns="0" tIns="0" rIns="0" bIns="0" rtlCol="0" anchor="t"/>
          <a:lstStyle/>
          <a:p>
            <a:pPr marL="0" indent="0" algn="l">
              <a:lnSpc>
                <a:spcPts val="2400"/>
              </a:lnSpc>
              <a:buNone/>
            </a:pPr>
            <a:r>
              <a:rPr lang="en-US" sz="1950" dirty="0">
                <a:solidFill>
                  <a:srgbClr val="E0D6DE"/>
                </a:solidFill>
                <a:latin typeface="Sora Medium" pitchFamily="34" charset="0"/>
                <a:ea typeface="Sora Medium" pitchFamily="34" charset="-122"/>
                <a:cs typeface="Sora Medium" pitchFamily="34" charset="-120"/>
              </a:rPr>
              <a:t>GROUP BY / ORDER BY</a:t>
            </a:r>
            <a:endParaRPr lang="en-US" sz="1950" dirty="0"/>
          </a:p>
        </p:txBody>
      </p:sp>
      <p:sp>
        <p:nvSpPr>
          <p:cNvPr id="19" name="Text 13"/>
          <p:cNvSpPr/>
          <p:nvPr/>
        </p:nvSpPr>
        <p:spPr>
          <a:xfrm>
            <a:off x="7414379" y="4998125"/>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E0D6DE"/>
                </a:solidFill>
                <a:latin typeface="Noto Sans TC" pitchFamily="34" charset="0"/>
                <a:ea typeface="Noto Sans TC" pitchFamily="34" charset="-122"/>
                <a:cs typeface="Noto Sans TC" pitchFamily="34" charset="-120"/>
              </a:rPr>
              <a:t>Optional clauses used to group results (e.g., by department) or sort the final output (e.g., by age or name).</a:t>
            </a:r>
            <a:endParaRPr lang="en-US" sz="1550" dirty="0"/>
          </a:p>
        </p:txBody>
      </p:sp>
      <p:sp>
        <p:nvSpPr>
          <p:cNvPr id="20" name="Shape 14"/>
          <p:cNvSpPr/>
          <p:nvPr/>
        </p:nvSpPr>
        <p:spPr>
          <a:xfrm>
            <a:off x="793790" y="5965627"/>
            <a:ext cx="13042821" cy="615196"/>
          </a:xfrm>
          <a:prstGeom prst="roundRect">
            <a:avLst>
              <a:gd name="adj" fmla="val 4839"/>
            </a:avLst>
          </a:prstGeom>
          <a:solidFill>
            <a:srgbClr val="141419"/>
          </a:solidFill>
          <a:ln/>
        </p:spPr>
      </p:sp>
      <p:sp>
        <p:nvSpPr>
          <p:cNvPr id="21" name="Shape 15"/>
          <p:cNvSpPr/>
          <p:nvPr/>
        </p:nvSpPr>
        <p:spPr>
          <a:xfrm>
            <a:off x="783908" y="5965627"/>
            <a:ext cx="13062585" cy="615196"/>
          </a:xfrm>
          <a:prstGeom prst="roundRect">
            <a:avLst>
              <a:gd name="adj" fmla="val 4839"/>
            </a:avLst>
          </a:prstGeom>
          <a:solidFill>
            <a:srgbClr val="141419"/>
          </a:solidFill>
          <a:ln/>
        </p:spPr>
      </p:sp>
      <p:sp>
        <p:nvSpPr>
          <p:cNvPr id="22" name="Text 16"/>
          <p:cNvSpPr/>
          <p:nvPr/>
        </p:nvSpPr>
        <p:spPr>
          <a:xfrm>
            <a:off x="982266" y="6154103"/>
            <a:ext cx="12665869" cy="317540"/>
          </a:xfrm>
          <a:prstGeom prst="rect">
            <a:avLst/>
          </a:prstGeom>
          <a:noFill/>
          <a:ln/>
        </p:spPr>
        <p:txBody>
          <a:bodyPr wrap="none" lIns="0" tIns="0" rIns="0" bIns="0" rtlCol="0" anchor="t"/>
          <a:lstStyle/>
          <a:p>
            <a:pPr marL="0" indent="0" algn="l">
              <a:lnSpc>
                <a:spcPts val="2500"/>
              </a:lnSpc>
              <a:buNone/>
            </a:pPr>
            <a:r>
              <a:rPr lang="en-US" sz="1550" dirty="0">
                <a:solidFill>
                  <a:srgbClr val="E0D6DE"/>
                </a:solidFill>
                <a:highlight>
                  <a:srgbClr val="141419"/>
                </a:highlight>
                <a:latin typeface="Consolas" pitchFamily="34" charset="0"/>
                <a:ea typeface="Consolas" pitchFamily="34" charset="-122"/>
                <a:cs typeface="Consolas" pitchFamily="34" charset="-120"/>
              </a:rPr>
              <a:t>SELECT name, age FROM employees WHERE department = 'Sales' ORDER BY age DESC;</a:t>
            </a:r>
            <a:endParaRPr lang="en-US" sz="1550" dirty="0"/>
          </a:p>
        </p:txBody>
      </p:sp>
      <p:sp>
        <p:nvSpPr>
          <p:cNvPr id="23" name="Text 17"/>
          <p:cNvSpPr/>
          <p:nvPr/>
        </p:nvSpPr>
        <p:spPr>
          <a:xfrm>
            <a:off x="793790" y="6843713"/>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0D6DE"/>
                </a:solidFill>
                <a:latin typeface="Noto Sans TC" pitchFamily="34" charset="0"/>
                <a:ea typeface="Noto Sans TC" pitchFamily="34" charset="-122"/>
                <a:cs typeface="Noto Sans TC" pitchFamily="34" charset="-120"/>
              </a:rPr>
              <a:t>Keywords (e.g., SELECT, FROM) are typically case-insensitive, but writing them in uppercase is a common best practice for readability.</a:t>
            </a:r>
            <a:endParaRPr lang="en-US" sz="1550" dirty="0"/>
          </a:p>
        </p:txBody>
      </p:sp>
      <p:sp>
        <p:nvSpPr>
          <p:cNvPr id="24" name="Text 18"/>
          <p:cNvSpPr/>
          <p:nvPr/>
        </p:nvSpPr>
        <p:spPr>
          <a:xfrm>
            <a:off x="793790" y="7230666"/>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E0D6DE"/>
                </a:solidFill>
                <a:latin typeface="Noto Sans TC" pitchFamily="34" charset="0"/>
                <a:ea typeface="Noto Sans TC" pitchFamily="34" charset="-122"/>
                <a:cs typeface="Noto Sans TC" pitchFamily="34" charset="-120"/>
              </a:rPr>
              <a:t>All standard SQL statements must be terminated with a semicolon (</a:t>
            </a:r>
            <a:r>
              <a:rPr lang="en-US" sz="1550" dirty="0">
                <a:solidFill>
                  <a:srgbClr val="97B8FF"/>
                </a:solidFill>
                <a:latin typeface="Noto Sans TC" pitchFamily="34" charset="0"/>
                <a:ea typeface="Noto Sans TC" pitchFamily="34" charset="-122"/>
                <a:cs typeface="Noto Sans TC" pitchFamily="34" charset="-120"/>
              </a:rPr>
              <a:t>;</a:t>
            </a:r>
            <a:r>
              <a:rPr lang="en-US" sz="1550" dirty="0">
                <a:solidFill>
                  <a:srgbClr val="E0D6DE"/>
                </a:solidFill>
                <a:latin typeface="Noto Sans TC" pitchFamily="34" charset="0"/>
                <a:ea typeface="Noto Sans TC" pitchFamily="34" charset="-122"/>
                <a:cs typeface="Noto Sans TC" pitchFamily="34" charset="-120"/>
              </a:rPr>
              <a:t>).</a:t>
            </a:r>
            <a:endParaRPr lang="en-US" sz="1550" dirty="0"/>
          </a:p>
        </p:txBody>
      </p:sp>
      <p:pic>
        <p:nvPicPr>
          <p:cNvPr id="25" name="Picture 24"/>
          <p:cNvPicPr>
            <a:picLocks noChangeAspect="1"/>
          </p:cNvPicPr>
          <p:nvPr/>
        </p:nvPicPr>
        <p:blipFill>
          <a:blip r:embed="rId4"/>
          <a:stretch>
            <a:fillRect/>
          </a:stretch>
        </p:blipFill>
        <p:spPr>
          <a:xfrm>
            <a:off x="12208212" y="7524424"/>
            <a:ext cx="2422188" cy="5953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3405" y="403741"/>
            <a:ext cx="10803731" cy="447913"/>
          </a:xfrm>
          <a:prstGeom prst="rect">
            <a:avLst/>
          </a:prstGeom>
          <a:noFill/>
          <a:ln/>
        </p:spPr>
        <p:txBody>
          <a:bodyPr wrap="none" lIns="0" tIns="0" rIns="0" bIns="0" rtlCol="0" anchor="t"/>
          <a:lstStyle/>
          <a:p>
            <a:pPr marL="0" indent="0" algn="l">
              <a:lnSpc>
                <a:spcPts val="3500"/>
              </a:lnSpc>
              <a:buNone/>
            </a:pPr>
            <a:r>
              <a:rPr lang="en-US" sz="2800" dirty="0">
                <a:solidFill>
                  <a:srgbClr val="97B8FF"/>
                </a:solidFill>
                <a:latin typeface="Sora Medium" pitchFamily="34" charset="0"/>
                <a:ea typeface="Sora Medium" pitchFamily="34" charset="-122"/>
                <a:cs typeface="Sora Medium" pitchFamily="34" charset="-120"/>
              </a:rPr>
              <a:t>Tables, Data Types, and Constraints: Ensuring Data Integrity</a:t>
            </a:r>
            <a:endParaRPr lang="en-US" sz="2800" dirty="0"/>
          </a:p>
        </p:txBody>
      </p:sp>
      <p:sp>
        <p:nvSpPr>
          <p:cNvPr id="3" name="Text 1"/>
          <p:cNvSpPr/>
          <p:nvPr/>
        </p:nvSpPr>
        <p:spPr>
          <a:xfrm>
            <a:off x="573405" y="1138357"/>
            <a:ext cx="13483590" cy="229314"/>
          </a:xfrm>
          <a:prstGeom prst="rect">
            <a:avLst/>
          </a:prstGeom>
          <a:noFill/>
          <a:ln/>
        </p:spPr>
        <p:txBody>
          <a:bodyPr wrap="none" lIns="0" tIns="0" rIns="0" bIns="0" rtlCol="0" anchor="t"/>
          <a:lstStyle/>
          <a:p>
            <a:pPr marL="0" indent="0" algn="l">
              <a:lnSpc>
                <a:spcPts val="1800"/>
              </a:lnSpc>
              <a:buNone/>
            </a:pPr>
            <a:r>
              <a:rPr lang="en-US" sz="1200" dirty="0">
                <a:solidFill>
                  <a:srgbClr val="E0D6DE"/>
                </a:solidFill>
                <a:latin typeface="Noto Sans TC" pitchFamily="34" charset="0"/>
                <a:ea typeface="Noto Sans TC" pitchFamily="34" charset="-122"/>
                <a:cs typeface="Noto Sans TC" pitchFamily="34" charset="-120"/>
              </a:rPr>
              <a:t>The foundation of a relational database is the table, which organises data into structured components. Correctly defining the structure, types, and rules is vital for robust database design</a:t>
            </a:r>
            <a:r>
              <a:rPr lang="en-US" sz="1100" dirty="0">
                <a:solidFill>
                  <a:srgbClr val="E0D6DE"/>
                </a:solidFill>
                <a:latin typeface="Noto Sans TC" pitchFamily="34" charset="0"/>
                <a:ea typeface="Noto Sans TC" pitchFamily="34" charset="-122"/>
                <a:cs typeface="Noto Sans TC" pitchFamily="34" charset="-120"/>
              </a:rPr>
              <a:t>.</a:t>
            </a:r>
            <a:endParaRPr lang="en-US" sz="1100" dirty="0"/>
          </a:p>
        </p:txBody>
      </p:sp>
      <p:sp>
        <p:nvSpPr>
          <p:cNvPr id="4" name="Text 2"/>
          <p:cNvSpPr/>
          <p:nvPr/>
        </p:nvSpPr>
        <p:spPr>
          <a:xfrm>
            <a:off x="573405" y="1672233"/>
            <a:ext cx="2261116" cy="268724"/>
          </a:xfrm>
          <a:prstGeom prst="rect">
            <a:avLst/>
          </a:prstGeom>
          <a:noFill/>
          <a:ln/>
        </p:spPr>
        <p:txBody>
          <a:bodyPr wrap="none" lIns="0" tIns="0" rIns="0" bIns="0" rtlCol="0" anchor="t"/>
          <a:lstStyle/>
          <a:p>
            <a:pPr marL="0" indent="0" algn="l">
              <a:lnSpc>
                <a:spcPts val="2100"/>
              </a:lnSpc>
              <a:buNone/>
            </a:pPr>
            <a:r>
              <a:rPr lang="en-US" sz="1650" dirty="0">
                <a:solidFill>
                  <a:srgbClr val="97B8FF"/>
                </a:solidFill>
                <a:latin typeface="Sora Medium" pitchFamily="34" charset="0"/>
                <a:ea typeface="Sora Medium" pitchFamily="34" charset="-122"/>
                <a:cs typeface="Sora Medium" pitchFamily="34" charset="-120"/>
              </a:rPr>
              <a:t>Tables and Structure</a:t>
            </a:r>
            <a:endParaRPr lang="en-US" sz="1650" dirty="0"/>
          </a:p>
        </p:txBody>
      </p:sp>
      <p:sp>
        <p:nvSpPr>
          <p:cNvPr id="5" name="Text 3"/>
          <p:cNvSpPr/>
          <p:nvPr/>
        </p:nvSpPr>
        <p:spPr>
          <a:xfrm>
            <a:off x="573405" y="2084308"/>
            <a:ext cx="6567011" cy="229314"/>
          </a:xfrm>
          <a:prstGeom prst="rect">
            <a:avLst/>
          </a:prstGeom>
          <a:noFill/>
          <a:ln/>
        </p:spPr>
        <p:txBody>
          <a:bodyPr wrap="none" lIns="0" tIns="0" rIns="0" bIns="0" rtlCol="0" anchor="t"/>
          <a:lstStyle/>
          <a:p>
            <a:pPr marL="0" indent="0" algn="l">
              <a:lnSpc>
                <a:spcPts val="1800"/>
              </a:lnSpc>
              <a:buNone/>
            </a:pPr>
            <a:r>
              <a:rPr lang="en-US" sz="1100" dirty="0">
                <a:solidFill>
                  <a:srgbClr val="E0D6DE"/>
                </a:solidFill>
                <a:latin typeface="Noto Sans TC" pitchFamily="34" charset="0"/>
                <a:ea typeface="Noto Sans TC" pitchFamily="34" charset="-122"/>
                <a:cs typeface="Noto Sans TC" pitchFamily="34" charset="-120"/>
              </a:rPr>
              <a:t>Data is stored in tables, which consist of:</a:t>
            </a:r>
            <a:endParaRPr lang="en-US" sz="1100" dirty="0"/>
          </a:p>
        </p:txBody>
      </p:sp>
      <p:sp>
        <p:nvSpPr>
          <p:cNvPr id="6" name="Text 4"/>
          <p:cNvSpPr/>
          <p:nvPr/>
        </p:nvSpPr>
        <p:spPr>
          <a:xfrm>
            <a:off x="573405" y="2442567"/>
            <a:ext cx="6567011" cy="229314"/>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Rows (Records/Tuples):</a:t>
            </a:r>
            <a:r>
              <a:rPr lang="en-US" sz="1100" dirty="0">
                <a:solidFill>
                  <a:srgbClr val="E0D6DE"/>
                </a:solidFill>
                <a:latin typeface="Noto Sans TC" pitchFamily="34" charset="0"/>
                <a:ea typeface="Noto Sans TC" pitchFamily="34" charset="-122"/>
                <a:cs typeface="Noto Sans TC" pitchFamily="34" charset="-120"/>
              </a:rPr>
              <a:t> Represents a single, complete entry in the table (e.g., one employee).</a:t>
            </a:r>
            <a:endParaRPr lang="en-US" sz="1100" dirty="0"/>
          </a:p>
        </p:txBody>
      </p:sp>
      <p:sp>
        <p:nvSpPr>
          <p:cNvPr id="7" name="Text 5"/>
          <p:cNvSpPr/>
          <p:nvPr/>
        </p:nvSpPr>
        <p:spPr>
          <a:xfrm>
            <a:off x="573405" y="2722007"/>
            <a:ext cx="6567011" cy="458629"/>
          </a:xfrm>
          <a:prstGeom prst="rect">
            <a:avLst/>
          </a:prstGeom>
          <a:noFill/>
          <a:ln/>
        </p:spPr>
        <p:txBody>
          <a:bodyPr wrap="square" lIns="0" tIns="0" rIns="0" bIns="0" rtlCol="0" anchor="t"/>
          <a:lstStyle/>
          <a:p>
            <a:pPr marL="342900" indent="-342900" algn="l">
              <a:lnSpc>
                <a:spcPts val="18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Columns (Fields/Attributes):</a:t>
            </a:r>
            <a:r>
              <a:rPr lang="en-US" sz="1100" dirty="0">
                <a:solidFill>
                  <a:srgbClr val="E0D6DE"/>
                </a:solidFill>
                <a:latin typeface="Noto Sans TC" pitchFamily="34" charset="0"/>
                <a:ea typeface="Noto Sans TC" pitchFamily="34" charset="-122"/>
                <a:cs typeface="Noto Sans TC" pitchFamily="34" charset="-120"/>
              </a:rPr>
              <a:t> Defines a specific piece of information for every row (e.g., employee name, date of hire).</a:t>
            </a:r>
            <a:endParaRPr lang="en-US" sz="1100" dirty="0"/>
          </a:p>
        </p:txBody>
      </p:sp>
      <p:sp>
        <p:nvSpPr>
          <p:cNvPr id="8" name="Text 6"/>
          <p:cNvSpPr/>
          <p:nvPr/>
        </p:nvSpPr>
        <p:spPr>
          <a:xfrm>
            <a:off x="573405" y="3323987"/>
            <a:ext cx="2264331" cy="268724"/>
          </a:xfrm>
          <a:prstGeom prst="rect">
            <a:avLst/>
          </a:prstGeom>
          <a:noFill/>
          <a:ln/>
        </p:spPr>
        <p:txBody>
          <a:bodyPr wrap="none" lIns="0" tIns="0" rIns="0" bIns="0" rtlCol="0" anchor="t"/>
          <a:lstStyle/>
          <a:p>
            <a:pPr marL="0" indent="0" algn="l">
              <a:lnSpc>
                <a:spcPts val="2100"/>
              </a:lnSpc>
              <a:buNone/>
            </a:pPr>
            <a:r>
              <a:rPr lang="en-US" sz="1650" dirty="0">
                <a:solidFill>
                  <a:srgbClr val="97B8FF"/>
                </a:solidFill>
                <a:latin typeface="Sora Medium" pitchFamily="34" charset="0"/>
                <a:ea typeface="Sora Medium" pitchFamily="34" charset="-122"/>
                <a:cs typeface="Sora Medium" pitchFamily="34" charset="-120"/>
              </a:rPr>
              <a:t>Common Data Types</a:t>
            </a:r>
            <a:endParaRPr lang="en-US" sz="1650" dirty="0"/>
          </a:p>
        </p:txBody>
      </p:sp>
      <p:sp>
        <p:nvSpPr>
          <p:cNvPr id="9" name="Text 7"/>
          <p:cNvSpPr/>
          <p:nvPr/>
        </p:nvSpPr>
        <p:spPr>
          <a:xfrm>
            <a:off x="573405" y="3736062"/>
            <a:ext cx="6567011" cy="229314"/>
          </a:xfrm>
          <a:prstGeom prst="rect">
            <a:avLst/>
          </a:prstGeom>
          <a:noFill/>
          <a:ln/>
        </p:spPr>
        <p:txBody>
          <a:bodyPr wrap="none" lIns="0" tIns="0" rIns="0" bIns="0" rtlCol="0" anchor="t"/>
          <a:lstStyle/>
          <a:p>
            <a:pPr marL="0" indent="0" algn="l">
              <a:lnSpc>
                <a:spcPts val="1800"/>
              </a:lnSpc>
              <a:buNone/>
            </a:pPr>
            <a:r>
              <a:rPr lang="en-US" sz="1100" dirty="0">
                <a:solidFill>
                  <a:srgbClr val="E0D6DE"/>
                </a:solidFill>
                <a:latin typeface="Noto Sans TC" pitchFamily="34" charset="0"/>
                <a:ea typeface="Noto Sans TC" pitchFamily="34" charset="-122"/>
                <a:cs typeface="Noto Sans TC" pitchFamily="34" charset="-120"/>
              </a:rPr>
              <a:t>Each column must have a defined data type to ensure consistency:</a:t>
            </a:r>
            <a:endParaRPr lang="en-US" sz="1100" dirty="0"/>
          </a:p>
        </p:txBody>
      </p:sp>
      <p:sp>
        <p:nvSpPr>
          <p:cNvPr id="10" name="Text 8"/>
          <p:cNvSpPr/>
          <p:nvPr/>
        </p:nvSpPr>
        <p:spPr>
          <a:xfrm>
            <a:off x="573405" y="4094321"/>
            <a:ext cx="6567011" cy="229314"/>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INTEGER:</a:t>
            </a:r>
            <a:r>
              <a:rPr lang="en-US" sz="1100" dirty="0">
                <a:solidFill>
                  <a:srgbClr val="E0D6DE"/>
                </a:solidFill>
                <a:latin typeface="Noto Sans TC" pitchFamily="34" charset="0"/>
                <a:ea typeface="Noto Sans TC" pitchFamily="34" charset="-122"/>
                <a:cs typeface="Noto Sans TC" pitchFamily="34" charset="-120"/>
              </a:rPr>
              <a:t> Whole numbers.</a:t>
            </a:r>
            <a:endParaRPr lang="en-US" sz="1100" dirty="0"/>
          </a:p>
        </p:txBody>
      </p:sp>
      <p:sp>
        <p:nvSpPr>
          <p:cNvPr id="11" name="Text 9"/>
          <p:cNvSpPr/>
          <p:nvPr/>
        </p:nvSpPr>
        <p:spPr>
          <a:xfrm>
            <a:off x="573405" y="4373761"/>
            <a:ext cx="6567011" cy="229314"/>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VARCHAR:</a:t>
            </a:r>
            <a:r>
              <a:rPr lang="en-US" sz="1100" dirty="0">
                <a:solidFill>
                  <a:srgbClr val="E0D6DE"/>
                </a:solidFill>
                <a:latin typeface="Noto Sans TC" pitchFamily="34" charset="0"/>
                <a:ea typeface="Noto Sans TC" pitchFamily="34" charset="-122"/>
                <a:cs typeface="Noto Sans TC" pitchFamily="34" charset="-120"/>
              </a:rPr>
              <a:t> Variable-length character strings (text).</a:t>
            </a:r>
            <a:endParaRPr lang="en-US" sz="1100" dirty="0"/>
          </a:p>
        </p:txBody>
      </p:sp>
      <p:sp>
        <p:nvSpPr>
          <p:cNvPr id="12" name="Text 10"/>
          <p:cNvSpPr/>
          <p:nvPr/>
        </p:nvSpPr>
        <p:spPr>
          <a:xfrm>
            <a:off x="573405" y="4653201"/>
            <a:ext cx="6567011" cy="229314"/>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DATE:</a:t>
            </a:r>
            <a:r>
              <a:rPr lang="en-US" sz="1100" dirty="0">
                <a:solidFill>
                  <a:srgbClr val="E0D6DE"/>
                </a:solidFill>
                <a:latin typeface="Noto Sans TC" pitchFamily="34" charset="0"/>
                <a:ea typeface="Noto Sans TC" pitchFamily="34" charset="-122"/>
                <a:cs typeface="Noto Sans TC" pitchFamily="34" charset="-120"/>
              </a:rPr>
              <a:t> Stores calendar dates.</a:t>
            </a:r>
            <a:endParaRPr lang="en-US" sz="1100" dirty="0"/>
          </a:p>
        </p:txBody>
      </p:sp>
      <p:sp>
        <p:nvSpPr>
          <p:cNvPr id="13" name="Text 11"/>
          <p:cNvSpPr/>
          <p:nvPr/>
        </p:nvSpPr>
        <p:spPr>
          <a:xfrm>
            <a:off x="573405" y="4932640"/>
            <a:ext cx="6567011" cy="229314"/>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E0D6DE"/>
                </a:solidFill>
                <a:latin typeface="Noto Sans TC" pitchFamily="34" charset="0"/>
                <a:ea typeface="Noto Sans TC" pitchFamily="34" charset="-122"/>
                <a:cs typeface="Noto Sans TC" pitchFamily="34" charset="-120"/>
              </a:rPr>
              <a:t>BOOLEAN:</a:t>
            </a:r>
            <a:r>
              <a:rPr lang="en-US" sz="1100" dirty="0">
                <a:solidFill>
                  <a:srgbClr val="E0D6DE"/>
                </a:solidFill>
                <a:latin typeface="Noto Sans TC" pitchFamily="34" charset="0"/>
                <a:ea typeface="Noto Sans TC" pitchFamily="34" charset="-122"/>
                <a:cs typeface="Noto Sans TC" pitchFamily="34" charset="-120"/>
              </a:rPr>
              <a:t> True or False values.</a:t>
            </a:r>
            <a:endParaRPr lang="en-US" sz="1100" dirty="0"/>
          </a:p>
        </p:txBody>
      </p:sp>
      <p:sp>
        <p:nvSpPr>
          <p:cNvPr id="14" name="Text 12"/>
          <p:cNvSpPr/>
          <p:nvPr/>
        </p:nvSpPr>
        <p:spPr>
          <a:xfrm>
            <a:off x="7497604" y="1672233"/>
            <a:ext cx="2150388" cy="268724"/>
          </a:xfrm>
          <a:prstGeom prst="rect">
            <a:avLst/>
          </a:prstGeom>
          <a:noFill/>
          <a:ln/>
        </p:spPr>
        <p:txBody>
          <a:bodyPr wrap="none" lIns="0" tIns="0" rIns="0" bIns="0" rtlCol="0" anchor="t"/>
          <a:lstStyle/>
          <a:p>
            <a:pPr marL="0" indent="0" algn="l">
              <a:lnSpc>
                <a:spcPts val="2100"/>
              </a:lnSpc>
              <a:buNone/>
            </a:pPr>
            <a:r>
              <a:rPr lang="en-US" sz="1650" dirty="0">
                <a:solidFill>
                  <a:srgbClr val="97B8FF"/>
                </a:solidFill>
                <a:latin typeface="Sora Medium" pitchFamily="34" charset="0"/>
                <a:ea typeface="Sora Medium" pitchFamily="34" charset="-122"/>
                <a:cs typeface="Sora Medium" pitchFamily="34" charset="-120"/>
              </a:rPr>
              <a:t>Data Constraints</a:t>
            </a:r>
            <a:endParaRPr lang="en-US" sz="1650" dirty="0"/>
          </a:p>
        </p:txBody>
      </p:sp>
      <p:sp>
        <p:nvSpPr>
          <p:cNvPr id="15" name="Text 13"/>
          <p:cNvSpPr/>
          <p:nvPr/>
        </p:nvSpPr>
        <p:spPr>
          <a:xfrm>
            <a:off x="7497604" y="2084308"/>
            <a:ext cx="6567011" cy="458629"/>
          </a:xfrm>
          <a:prstGeom prst="rect">
            <a:avLst/>
          </a:prstGeom>
          <a:noFill/>
          <a:ln/>
        </p:spPr>
        <p:txBody>
          <a:bodyPr wrap="square" lIns="0" tIns="0" rIns="0" bIns="0" rtlCol="0" anchor="t"/>
          <a:lstStyle/>
          <a:p>
            <a:pPr marL="0" indent="0" algn="l">
              <a:lnSpc>
                <a:spcPts val="1800"/>
              </a:lnSpc>
              <a:buNone/>
            </a:pPr>
            <a:r>
              <a:rPr lang="en-US" sz="1100" dirty="0">
                <a:solidFill>
                  <a:srgbClr val="E0D6DE"/>
                </a:solidFill>
                <a:latin typeface="Noto Sans TC" pitchFamily="34" charset="0"/>
                <a:ea typeface="Noto Sans TC" pitchFamily="34" charset="-122"/>
                <a:cs typeface="Noto Sans TC" pitchFamily="34" charset="-120"/>
              </a:rPr>
              <a:t>Constraints are rules enforced on data columns to limit what data can be stored, thereby guaranteeing accuracy and reliability:</a:t>
            </a:r>
            <a:endParaRPr lang="en-US" sz="1100" dirty="0"/>
          </a:p>
        </p:txBody>
      </p:sp>
      <p:sp>
        <p:nvSpPr>
          <p:cNvPr id="16" name="Shape 14"/>
          <p:cNvSpPr/>
          <p:nvPr/>
        </p:nvSpPr>
        <p:spPr>
          <a:xfrm>
            <a:off x="7497604" y="2919174"/>
            <a:ext cx="6567011" cy="1342906"/>
          </a:xfrm>
          <a:prstGeom prst="roundRect">
            <a:avLst>
              <a:gd name="adj" fmla="val 5447"/>
            </a:avLst>
          </a:prstGeom>
          <a:solidFill>
            <a:srgbClr val="07070C"/>
          </a:solidFill>
          <a:ln/>
        </p:spPr>
      </p:sp>
      <p:pic>
        <p:nvPicPr>
          <p:cNvPr id="17" name="Image 0" descr="preencoded.png"/>
          <p:cNvPicPr>
            <a:picLocks noChangeAspect="1"/>
          </p:cNvPicPr>
          <p:nvPr/>
        </p:nvPicPr>
        <p:blipFill>
          <a:blip r:embed="rId3"/>
          <a:stretch>
            <a:fillRect/>
          </a:stretch>
        </p:blipFill>
        <p:spPr>
          <a:xfrm>
            <a:off x="7497604" y="2903934"/>
            <a:ext cx="6567011" cy="60960"/>
          </a:xfrm>
          <a:prstGeom prst="rect">
            <a:avLst/>
          </a:prstGeom>
        </p:spPr>
      </p:pic>
      <p:pic>
        <p:nvPicPr>
          <p:cNvPr id="18" name="Image 1" descr="preencoded.png"/>
          <p:cNvPicPr>
            <a:picLocks noChangeAspect="1"/>
          </p:cNvPicPr>
          <p:nvPr/>
        </p:nvPicPr>
        <p:blipFill>
          <a:blip r:embed="rId4"/>
          <a:stretch>
            <a:fillRect/>
          </a:stretch>
        </p:blipFill>
        <p:spPr>
          <a:xfrm>
            <a:off x="10566083" y="2704148"/>
            <a:ext cx="430054" cy="430054"/>
          </a:xfrm>
          <a:prstGeom prst="rect">
            <a:avLst/>
          </a:prstGeom>
        </p:spPr>
      </p:pic>
      <p:pic>
        <p:nvPicPr>
          <p:cNvPr id="19" name="Image 2" descr="preencoded.png"/>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9125924" y="2848095"/>
            <a:ext cx="171926" cy="171926"/>
          </a:xfrm>
          <a:prstGeom prst="rect">
            <a:avLst/>
          </a:prstGeom>
        </p:spPr>
      </p:pic>
      <p:sp>
        <p:nvSpPr>
          <p:cNvPr id="20" name="Text 15"/>
          <p:cNvSpPr/>
          <p:nvPr/>
        </p:nvSpPr>
        <p:spPr>
          <a:xfrm>
            <a:off x="7656195" y="3277553"/>
            <a:ext cx="1791891" cy="223957"/>
          </a:xfrm>
          <a:prstGeom prst="rect">
            <a:avLst/>
          </a:prstGeom>
          <a:noFill/>
          <a:ln/>
        </p:spPr>
        <p:txBody>
          <a:bodyPr wrap="none" lIns="0" tIns="0" rIns="0" bIns="0" rtlCol="0" anchor="t"/>
          <a:lstStyle/>
          <a:p>
            <a:pPr marL="0" indent="0" algn="l">
              <a:lnSpc>
                <a:spcPts val="1750"/>
              </a:lnSpc>
              <a:buNone/>
            </a:pPr>
            <a:r>
              <a:rPr lang="en-US" sz="1400" dirty="0">
                <a:solidFill>
                  <a:srgbClr val="E0D6DE"/>
                </a:solidFill>
                <a:latin typeface="Sora Medium" pitchFamily="34" charset="0"/>
                <a:ea typeface="Sora Medium" pitchFamily="34" charset="-122"/>
                <a:cs typeface="Sora Medium" pitchFamily="34" charset="-120"/>
              </a:rPr>
              <a:t>PRIMARY KEY</a:t>
            </a:r>
            <a:endParaRPr lang="en-US" sz="1400" dirty="0"/>
          </a:p>
        </p:txBody>
      </p:sp>
      <p:sp>
        <p:nvSpPr>
          <p:cNvPr id="21" name="Text 16"/>
          <p:cNvSpPr/>
          <p:nvPr/>
        </p:nvSpPr>
        <p:spPr>
          <a:xfrm>
            <a:off x="7656195" y="3644860"/>
            <a:ext cx="6249829" cy="458629"/>
          </a:xfrm>
          <a:prstGeom prst="rect">
            <a:avLst/>
          </a:prstGeom>
          <a:noFill/>
          <a:ln/>
        </p:spPr>
        <p:txBody>
          <a:bodyPr wrap="square" lIns="0" tIns="0" rIns="0" bIns="0" rtlCol="0" anchor="t"/>
          <a:lstStyle/>
          <a:p>
            <a:pPr marL="0" indent="0" algn="l">
              <a:lnSpc>
                <a:spcPts val="1800"/>
              </a:lnSpc>
              <a:buNone/>
            </a:pPr>
            <a:r>
              <a:rPr lang="en-US" sz="1100" dirty="0">
                <a:solidFill>
                  <a:srgbClr val="E0D6DE"/>
                </a:solidFill>
                <a:latin typeface="Noto Sans TC" pitchFamily="34" charset="0"/>
                <a:ea typeface="Noto Sans TC" pitchFamily="34" charset="-122"/>
                <a:cs typeface="Noto Sans TC" pitchFamily="34" charset="-120"/>
              </a:rPr>
              <a:t>A field (or combination of fields) that uniquely identifies each row in a table. It cannot contain NULL values.</a:t>
            </a:r>
            <a:endParaRPr lang="en-US" sz="1100" dirty="0"/>
          </a:p>
        </p:txBody>
      </p:sp>
      <p:sp>
        <p:nvSpPr>
          <p:cNvPr id="22" name="Shape 17"/>
          <p:cNvSpPr/>
          <p:nvPr/>
        </p:nvSpPr>
        <p:spPr>
          <a:xfrm>
            <a:off x="7497604" y="4620458"/>
            <a:ext cx="6567011" cy="1342906"/>
          </a:xfrm>
          <a:prstGeom prst="roundRect">
            <a:avLst>
              <a:gd name="adj" fmla="val 5447"/>
            </a:avLst>
          </a:prstGeom>
          <a:solidFill>
            <a:srgbClr val="07070C"/>
          </a:solidFill>
          <a:ln/>
        </p:spPr>
      </p:sp>
      <p:pic>
        <p:nvPicPr>
          <p:cNvPr id="23" name="Image 3" descr="preencoded.png"/>
          <p:cNvPicPr>
            <a:picLocks noChangeAspect="1"/>
          </p:cNvPicPr>
          <p:nvPr/>
        </p:nvPicPr>
        <p:blipFill>
          <a:blip r:embed="rId3"/>
          <a:stretch>
            <a:fillRect/>
          </a:stretch>
        </p:blipFill>
        <p:spPr>
          <a:xfrm>
            <a:off x="7497604" y="4605218"/>
            <a:ext cx="6567011" cy="60960"/>
          </a:xfrm>
          <a:prstGeom prst="rect">
            <a:avLst/>
          </a:prstGeom>
        </p:spPr>
      </p:pic>
      <p:pic>
        <p:nvPicPr>
          <p:cNvPr id="24" name="Image 4" descr="preencoded.png"/>
          <p:cNvPicPr>
            <a:picLocks noChangeAspect="1"/>
          </p:cNvPicPr>
          <p:nvPr/>
        </p:nvPicPr>
        <p:blipFill>
          <a:blip r:embed="rId4"/>
          <a:stretch>
            <a:fillRect/>
          </a:stretch>
        </p:blipFill>
        <p:spPr>
          <a:xfrm>
            <a:off x="10566083" y="4405432"/>
            <a:ext cx="430054" cy="430054"/>
          </a:xfrm>
          <a:prstGeom prst="rect">
            <a:avLst/>
          </a:prstGeom>
        </p:spPr>
      </p:pic>
      <p:pic>
        <p:nvPicPr>
          <p:cNvPr id="25" name="Image 5" descr="preencoded.png"/>
          <p:cNvPicPr>
            <a:picLocks noChangeAspect="1"/>
          </p:cNvPicPr>
          <p:nvPr/>
        </p:nvPicPr>
        <p:blipFill>
          <a:blip r:embed="rId5">
            <a:extLst>
              <a:ext uri="{96DAC541-7B7A-43D3-8B79-37D633B846F1}">
                <asvg:svgBlip xmlns:asvg="http://schemas.microsoft.com/office/drawing/2016/SVG/main" xmlns="" r:embed="rId8"/>
              </a:ext>
            </a:extLst>
          </a:blip>
          <a:stretch>
            <a:fillRect/>
          </a:stretch>
        </p:blipFill>
        <p:spPr>
          <a:xfrm>
            <a:off x="11146936" y="4526875"/>
            <a:ext cx="171926" cy="171926"/>
          </a:xfrm>
          <a:prstGeom prst="rect">
            <a:avLst/>
          </a:prstGeom>
        </p:spPr>
      </p:pic>
      <p:sp>
        <p:nvSpPr>
          <p:cNvPr id="26" name="Text 18"/>
          <p:cNvSpPr/>
          <p:nvPr/>
        </p:nvSpPr>
        <p:spPr>
          <a:xfrm>
            <a:off x="7656195" y="4978837"/>
            <a:ext cx="1791891" cy="223957"/>
          </a:xfrm>
          <a:prstGeom prst="rect">
            <a:avLst/>
          </a:prstGeom>
          <a:noFill/>
          <a:ln/>
        </p:spPr>
        <p:txBody>
          <a:bodyPr wrap="none" lIns="0" tIns="0" rIns="0" bIns="0" rtlCol="0" anchor="t"/>
          <a:lstStyle/>
          <a:p>
            <a:pPr marL="0" indent="0" algn="l">
              <a:lnSpc>
                <a:spcPts val="1750"/>
              </a:lnSpc>
              <a:buNone/>
            </a:pPr>
            <a:r>
              <a:rPr lang="en-US" sz="1400" dirty="0">
                <a:solidFill>
                  <a:srgbClr val="E0D6DE"/>
                </a:solidFill>
                <a:latin typeface="Sora Medium" pitchFamily="34" charset="0"/>
                <a:ea typeface="Sora Medium" pitchFamily="34" charset="-122"/>
                <a:cs typeface="Sora Medium" pitchFamily="34" charset="-120"/>
              </a:rPr>
              <a:t>FOREIGN KEY</a:t>
            </a:r>
            <a:endParaRPr lang="en-US" sz="1400" dirty="0"/>
          </a:p>
        </p:txBody>
      </p:sp>
      <p:sp>
        <p:nvSpPr>
          <p:cNvPr id="27" name="Text 19"/>
          <p:cNvSpPr/>
          <p:nvPr/>
        </p:nvSpPr>
        <p:spPr>
          <a:xfrm>
            <a:off x="7656195" y="5346144"/>
            <a:ext cx="6249829" cy="458629"/>
          </a:xfrm>
          <a:prstGeom prst="rect">
            <a:avLst/>
          </a:prstGeom>
          <a:noFill/>
          <a:ln/>
        </p:spPr>
        <p:txBody>
          <a:bodyPr wrap="square" lIns="0" tIns="0" rIns="0" bIns="0" rtlCol="0" anchor="t"/>
          <a:lstStyle/>
          <a:p>
            <a:pPr marL="0" indent="0" algn="l">
              <a:lnSpc>
                <a:spcPts val="1800"/>
              </a:lnSpc>
              <a:buNone/>
            </a:pPr>
            <a:r>
              <a:rPr lang="en-US" sz="1100" dirty="0">
                <a:solidFill>
                  <a:srgbClr val="E0D6DE"/>
                </a:solidFill>
                <a:latin typeface="Noto Sans TC" pitchFamily="34" charset="0"/>
                <a:ea typeface="Noto Sans TC" pitchFamily="34" charset="-122"/>
                <a:cs typeface="Noto Sans TC" pitchFamily="34" charset="-120"/>
              </a:rPr>
              <a:t>A field in one table that links to the primary key of another table, establishing relationships between tables.</a:t>
            </a:r>
            <a:endParaRPr lang="en-US" sz="1100" dirty="0"/>
          </a:p>
        </p:txBody>
      </p:sp>
      <p:sp>
        <p:nvSpPr>
          <p:cNvPr id="28" name="Shape 20"/>
          <p:cNvSpPr/>
          <p:nvPr/>
        </p:nvSpPr>
        <p:spPr>
          <a:xfrm>
            <a:off x="7497604" y="6321743"/>
            <a:ext cx="6567011" cy="1342906"/>
          </a:xfrm>
          <a:prstGeom prst="roundRect">
            <a:avLst>
              <a:gd name="adj" fmla="val 5447"/>
            </a:avLst>
          </a:prstGeom>
          <a:solidFill>
            <a:srgbClr val="07070C"/>
          </a:solidFill>
          <a:ln/>
        </p:spPr>
      </p:sp>
      <p:pic>
        <p:nvPicPr>
          <p:cNvPr id="29" name="Image 6" descr="preencoded.png"/>
          <p:cNvPicPr>
            <a:picLocks noChangeAspect="1"/>
          </p:cNvPicPr>
          <p:nvPr/>
        </p:nvPicPr>
        <p:blipFill>
          <a:blip r:embed="rId3"/>
          <a:stretch>
            <a:fillRect/>
          </a:stretch>
        </p:blipFill>
        <p:spPr>
          <a:xfrm>
            <a:off x="7497604" y="6306503"/>
            <a:ext cx="6567011" cy="60960"/>
          </a:xfrm>
          <a:prstGeom prst="rect">
            <a:avLst/>
          </a:prstGeom>
        </p:spPr>
      </p:pic>
      <p:pic>
        <p:nvPicPr>
          <p:cNvPr id="30" name="Image 7" descr="preencoded.png"/>
          <p:cNvPicPr>
            <a:picLocks noChangeAspect="1"/>
          </p:cNvPicPr>
          <p:nvPr/>
        </p:nvPicPr>
        <p:blipFill>
          <a:blip r:embed="rId4"/>
          <a:stretch>
            <a:fillRect/>
          </a:stretch>
        </p:blipFill>
        <p:spPr>
          <a:xfrm>
            <a:off x="10566083" y="6106716"/>
            <a:ext cx="430054" cy="430054"/>
          </a:xfrm>
          <a:prstGeom prst="rect">
            <a:avLst/>
          </a:prstGeom>
        </p:spPr>
      </p:pic>
      <p:pic>
        <p:nvPicPr>
          <p:cNvPr id="31" name="Image 8" descr="preencoded.png"/>
          <p:cNvPicPr>
            <a:picLocks noChangeAspect="1"/>
          </p:cNvPicPr>
          <p:nvPr/>
        </p:nvPicPr>
        <p:blipFill>
          <a:blip r:embed="rId5">
            <a:extLst>
              <a:ext uri="{96DAC541-7B7A-43D3-8B79-37D633B846F1}">
                <asvg:svgBlip xmlns:asvg="http://schemas.microsoft.com/office/drawing/2016/SVG/main" xmlns="" r:embed="rId12"/>
              </a:ext>
            </a:extLst>
          </a:blip>
          <a:stretch>
            <a:fillRect/>
          </a:stretch>
        </p:blipFill>
        <p:spPr>
          <a:xfrm>
            <a:off x="13652354" y="6235779"/>
            <a:ext cx="171926" cy="171926"/>
          </a:xfrm>
          <a:prstGeom prst="rect">
            <a:avLst/>
          </a:prstGeom>
        </p:spPr>
      </p:pic>
      <p:sp>
        <p:nvSpPr>
          <p:cNvPr id="32" name="Text 21"/>
          <p:cNvSpPr/>
          <p:nvPr/>
        </p:nvSpPr>
        <p:spPr>
          <a:xfrm>
            <a:off x="7656195" y="6680121"/>
            <a:ext cx="1791891" cy="223957"/>
          </a:xfrm>
          <a:prstGeom prst="rect">
            <a:avLst/>
          </a:prstGeom>
          <a:noFill/>
          <a:ln/>
        </p:spPr>
        <p:txBody>
          <a:bodyPr wrap="none" lIns="0" tIns="0" rIns="0" bIns="0" rtlCol="0" anchor="t"/>
          <a:lstStyle/>
          <a:p>
            <a:pPr marL="0" indent="0" algn="l">
              <a:lnSpc>
                <a:spcPts val="1750"/>
              </a:lnSpc>
              <a:buNone/>
            </a:pPr>
            <a:r>
              <a:rPr lang="en-US" sz="1400" dirty="0">
                <a:solidFill>
                  <a:srgbClr val="E0D6DE"/>
                </a:solidFill>
                <a:latin typeface="Sora Medium" pitchFamily="34" charset="0"/>
                <a:ea typeface="Sora Medium" pitchFamily="34" charset="-122"/>
                <a:cs typeface="Sora Medium" pitchFamily="34" charset="-120"/>
              </a:rPr>
              <a:t>NOT NULL</a:t>
            </a:r>
            <a:endParaRPr lang="en-US" sz="1400" dirty="0"/>
          </a:p>
        </p:txBody>
      </p:sp>
      <p:sp>
        <p:nvSpPr>
          <p:cNvPr id="33" name="Text 22"/>
          <p:cNvSpPr/>
          <p:nvPr/>
        </p:nvSpPr>
        <p:spPr>
          <a:xfrm>
            <a:off x="7656195" y="7047428"/>
            <a:ext cx="6249829" cy="458629"/>
          </a:xfrm>
          <a:prstGeom prst="rect">
            <a:avLst/>
          </a:prstGeom>
          <a:noFill/>
          <a:ln/>
        </p:spPr>
        <p:txBody>
          <a:bodyPr wrap="square" lIns="0" tIns="0" rIns="0" bIns="0" rtlCol="0" anchor="t"/>
          <a:lstStyle/>
          <a:p>
            <a:pPr marL="0" indent="0" algn="l">
              <a:lnSpc>
                <a:spcPts val="1800"/>
              </a:lnSpc>
              <a:buNone/>
            </a:pPr>
            <a:r>
              <a:rPr lang="en-US" sz="1100" dirty="0">
                <a:solidFill>
                  <a:srgbClr val="E0D6DE"/>
                </a:solidFill>
                <a:latin typeface="Noto Sans TC" pitchFamily="34" charset="0"/>
                <a:ea typeface="Noto Sans TC" pitchFamily="34" charset="-122"/>
                <a:cs typeface="Noto Sans TC" pitchFamily="34" charset="-120"/>
              </a:rPr>
              <a:t>Ensures that a specific column cannot contain empty or null values; data entry is mandatory for this field.</a:t>
            </a:r>
            <a:endParaRPr lang="en-US" sz="1100" dirty="0"/>
          </a:p>
        </p:txBody>
      </p:sp>
      <p:pic>
        <p:nvPicPr>
          <p:cNvPr id="34" name="Picture 33"/>
          <p:cNvPicPr>
            <a:picLocks noChangeAspect="1"/>
          </p:cNvPicPr>
          <p:nvPr/>
        </p:nvPicPr>
        <p:blipFill>
          <a:blip r:embed="rId13"/>
          <a:stretch>
            <a:fillRect/>
          </a:stretch>
        </p:blipFill>
        <p:spPr>
          <a:xfrm>
            <a:off x="12208212" y="7524424"/>
            <a:ext cx="2422188" cy="5953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029057"/>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97B8FF"/>
                </a:solidFill>
                <a:latin typeface="Sora Medium" pitchFamily="34" charset="0"/>
                <a:ea typeface="Sora Medium" pitchFamily="34" charset="-122"/>
                <a:cs typeface="Sora Medium" pitchFamily="34" charset="-120"/>
              </a:rPr>
              <a:t>Summary &amp; Next Steps: Continuing the SQL Journey</a:t>
            </a:r>
            <a:endParaRPr lang="en-US" sz="3900" dirty="0"/>
          </a:p>
        </p:txBody>
      </p:sp>
      <p:pic>
        <p:nvPicPr>
          <p:cNvPr id="20" name="Picture 19"/>
          <p:cNvPicPr>
            <a:picLocks noChangeAspect="1"/>
          </p:cNvPicPr>
          <p:nvPr/>
        </p:nvPicPr>
        <p:blipFill>
          <a:blip r:embed="rId3"/>
          <a:stretch>
            <a:fillRect/>
          </a:stretch>
        </p:blipFill>
        <p:spPr>
          <a:xfrm>
            <a:off x="12208212" y="7524424"/>
            <a:ext cx="2422188" cy="595398"/>
          </a:xfrm>
          <a:prstGeom prst="rect">
            <a:avLst/>
          </a:prstGeom>
        </p:spPr>
      </p:pic>
      <p:sp>
        <p:nvSpPr>
          <p:cNvPr id="21" name="TextBox 20"/>
          <p:cNvSpPr txBox="1"/>
          <p:nvPr/>
        </p:nvSpPr>
        <p:spPr>
          <a:xfrm>
            <a:off x="793790" y="2490281"/>
            <a:ext cx="13054519" cy="5078313"/>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smtClean="0">
                <a:solidFill>
                  <a:schemeClr val="bg1">
                    <a:lumMod val="85000"/>
                  </a:schemeClr>
                </a:solidFill>
              </a:rPr>
              <a:t>SQL (Structured Query Language) is the indispensable standard language for managing relational databases. It offers a consistent, declarative interface for efficient data storage, retrieval, and manipulation. Developed in the 1970s, SQL's strength lies in its categorized commands (DDL, DML, DCL) which simplify database structure and content management, providing comprehensive control over the database lifecycle.</a:t>
            </a:r>
          </a:p>
          <a:p>
            <a:pPr marL="285750" indent="-285750" algn="just">
              <a:buFont typeface="Wingdings" panose="05000000000000000000" pitchFamily="2" charset="2"/>
              <a:buChar char="Ø"/>
            </a:pPr>
            <a:endParaRPr lang="en-US" dirty="0" smtClean="0">
              <a:solidFill>
                <a:schemeClr val="bg1">
                  <a:lumMod val="85000"/>
                </a:schemeClr>
              </a:solidFill>
            </a:endParaRPr>
          </a:p>
          <a:p>
            <a:pPr marL="285750" indent="-285750" algn="just">
              <a:buFont typeface="Wingdings" panose="05000000000000000000" pitchFamily="2" charset="2"/>
              <a:buChar char="Ø"/>
            </a:pPr>
            <a:r>
              <a:rPr lang="en-US" dirty="0" smtClean="0">
                <a:solidFill>
                  <a:schemeClr val="bg1">
                    <a:lumMod val="85000"/>
                  </a:schemeClr>
                </a:solidFill>
              </a:rPr>
              <a:t>The enduring success of SQL can be attributed to its clear categorization of commands which simplify various database tasks. Data Definition Language (DDL) commands, such as CREATE TABLE and ALTER TABLE, define the database schema and structure. Data Manipulation Language (DML) commands (INSERT, UPDATE, DELETE) handle the actual data records, enabling dynamic content management. Data Control Language (DCL) manages permissions and security, ensuring data integrity and access control. This structured approach allows developers and administrators to manage complex, multi-user environments with precision and efficiency, highlighting SQL's comprehensive control over the database lifecycle.</a:t>
            </a:r>
          </a:p>
          <a:p>
            <a:pPr marL="285750" indent="-285750" algn="just">
              <a:buFont typeface="Wingdings" panose="05000000000000000000" pitchFamily="2" charset="2"/>
              <a:buChar char="Ø"/>
            </a:pPr>
            <a:endParaRPr lang="en-US" dirty="0" smtClean="0">
              <a:solidFill>
                <a:schemeClr val="bg1">
                  <a:lumMod val="85000"/>
                </a:schemeClr>
              </a:solidFill>
            </a:endParaRPr>
          </a:p>
          <a:p>
            <a:pPr marL="285750" indent="-285750" algn="just">
              <a:buFont typeface="Wingdings" panose="05000000000000000000" pitchFamily="2" charset="2"/>
              <a:buChar char="Ø"/>
            </a:pPr>
            <a:r>
              <a:rPr lang="en-US" dirty="0" smtClean="0">
                <a:solidFill>
                  <a:schemeClr val="bg1">
                    <a:lumMod val="85000"/>
                  </a:schemeClr>
                </a:solidFill>
              </a:rPr>
              <a:t>In conclusion, SQL's widespread adoption, robust design, and reliable performance confirm its status as a resilient, foundational technology in the modern digital ecosystem. It is an essential skill for professionals and continues to serve as the backbone of global data management for the foreseeable future.</a:t>
            </a:r>
          </a:p>
          <a:p>
            <a:endParaRPr lang="en-US" dirty="0" smtClean="0">
              <a:solidFill>
                <a:schemeClr val="bg1">
                  <a:lumMod val="85000"/>
                </a:schemeClr>
              </a:solidFill>
            </a:endParaRPr>
          </a:p>
          <a:p>
            <a:endParaRPr lang="en-US" dirty="0" smtClean="0">
              <a:solidFill>
                <a:schemeClr val="bg1">
                  <a:lumMod val="85000"/>
                </a:schemeClr>
              </a:solidFill>
            </a:endParaRP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stretch>
            <a:fillRect/>
          </a:stretch>
        </p:blipFill>
        <p:spPr>
          <a:xfrm>
            <a:off x="12208212" y="7524424"/>
            <a:ext cx="2422188" cy="595398"/>
          </a:xfrm>
          <a:prstGeom prst="rect">
            <a:avLst/>
          </a:prstGeom>
        </p:spPr>
      </p:pic>
      <p:sp>
        <p:nvSpPr>
          <p:cNvPr id="2" name="TextBox 1"/>
          <p:cNvSpPr txBox="1"/>
          <p:nvPr/>
        </p:nvSpPr>
        <p:spPr>
          <a:xfrm>
            <a:off x="4601183" y="3233090"/>
            <a:ext cx="9552561" cy="1569660"/>
          </a:xfrm>
          <a:prstGeom prst="rect">
            <a:avLst/>
          </a:prstGeom>
          <a:noFill/>
        </p:spPr>
        <p:txBody>
          <a:bodyPr wrap="square" rtlCol="0">
            <a:spAutoFit/>
          </a:bodyPr>
          <a:lstStyle/>
          <a:p>
            <a:r>
              <a:rPr lang="en-US" sz="9600" b="1" dirty="0" smtClean="0">
                <a:solidFill>
                  <a:schemeClr val="bg1"/>
                </a:solidFill>
              </a:rPr>
              <a:t>Thank you</a:t>
            </a:r>
            <a:endParaRPr lang="en-US" sz="9600" b="1" dirty="0">
              <a:solidFill>
                <a:schemeClr val="bg1"/>
              </a:solidFill>
            </a:endParaRPr>
          </a:p>
        </p:txBody>
      </p:sp>
    </p:spTree>
    <p:extLst>
      <p:ext uri="{BB962C8B-B14F-4D97-AF65-F5344CB8AC3E}">
        <p14:creationId xmlns:p14="http://schemas.microsoft.com/office/powerpoint/2010/main" val="3275919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1283</Words>
  <Application>Microsoft Office PowerPoint</Application>
  <PresentationFormat>Custom</PresentationFormat>
  <Paragraphs>105</Paragraphs>
  <Slides>9</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Times New Roman</vt:lpstr>
      <vt:lpstr>Sora Medium</vt:lpstr>
      <vt:lpstr>Noto Sans TC</vt:lpstr>
      <vt:lpstr>Arial</vt:lpstr>
      <vt:lpstr>Calibri Light</vt:lpstr>
      <vt:lpstr>Sora Light</vt:lpstr>
      <vt:lpstr>Wingdings</vt:lpstr>
      <vt:lpstr>Consolas</vt:lpstr>
      <vt:lpstr>Calibri</vt:lpstr>
      <vt:lpstr>Office Theme</vt:lpstr>
      <vt:lpstr>MADHAV INSTITUTE OF TECHNOLOGY AND SCIENCE, GWALIOR (A Govt. Aided UGC Autonomous Institute, Affiliated to RGPV, Bhopal) NAAC Accredited with A++ Grade  DEPARTMENT OF INFORMATION TECHNOLOGY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AMARDEEP CHOUHAN</dc:creator>
  <cp:lastModifiedBy>AMARDEEP CHOUHAN</cp:lastModifiedBy>
  <cp:revision>6</cp:revision>
  <dcterms:created xsi:type="dcterms:W3CDTF">2025-11-06T01:04:27Z</dcterms:created>
  <dcterms:modified xsi:type="dcterms:W3CDTF">2025-11-06T02:57:24Z</dcterms:modified>
</cp:coreProperties>
</file>