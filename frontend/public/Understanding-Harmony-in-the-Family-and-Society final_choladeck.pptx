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5" r:id="rId2"/>
    <p:sldId id="256" r:id="rId3"/>
    <p:sldId id="257" r:id="rId4"/>
    <p:sldId id="258" r:id="rId5"/>
    <p:sldId id="259" r:id="rId6"/>
    <p:sldId id="260" r:id="rId7"/>
    <p:sldId id="261" r:id="rId8"/>
    <p:sldId id="262" r:id="rId9"/>
    <p:sldId id="263" r:id="rId10"/>
    <p:sldId id="264" r:id="rId11"/>
  </p:sldIdLst>
  <p:sldSz cx="14630400" cy="8229600"/>
  <p:notesSz cx="8229600" cy="14630400"/>
  <p:embeddedFontLst>
    <p:embeddedFont>
      <p:font typeface="Roboto Medium" charset="0"/>
      <p:regular r:id="rId13"/>
    </p:embeddedFont>
    <p:embeddedFont>
      <p:font typeface="Calibri" pitchFamily="34" charset="0"/>
      <p:regular r:id="rId14"/>
      <p:bold r:id="rId15"/>
      <p:italic r:id="rId16"/>
      <p:boldItalic r:id="rId17"/>
    </p:embeddedFont>
    <p:embeddedFont>
      <p:font typeface="Roboto" charset="0"/>
      <p:regular r:id="rId18"/>
    </p:embeddedFont>
    <p:embeddedFont>
      <p:font typeface="Segoe UI Black" pitchFamily="34" charset="0"/>
      <p:bold r:id="rId19"/>
      <p:boldItalic r:id="rId20"/>
    </p:embeddedFont>
    <p:embeddedFont>
      <p:font typeface="Calibri Light" pitchFamily="34" charset="0"/>
      <p:regular r:id="rId21"/>
      <p: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1"/>
    <p:restoredTop sz="94610"/>
  </p:normalViewPr>
  <p:slideViewPr>
    <p:cSldViewPr snapToGrid="0" snapToObjects="1">
      <p:cViewPr varScale="1">
        <p:scale>
          <a:sx n="57" d="100"/>
          <a:sy n="57" d="100"/>
        </p:scale>
        <p:origin x="-552" y="-76"/>
      </p:cViewPr>
      <p:guideLst>
        <p:guide orient="horz" pos="2592"/>
        <p:guide pos="4608"/>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768751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a:prstGeom prst="rect">
            <a:avLst/>
          </a:prstGeom>
        </p:spPr>
        <p:txBody>
          <a:bodyPr anchor="b"/>
          <a:lstStyle>
            <a:lvl1pPr algn="ctr">
              <a:defRPr sz="7200"/>
            </a:lvl1pPr>
          </a:lstStyle>
          <a:p>
            <a:r>
              <a:rPr lang="en-US"/>
              <a:t>Click to edit Master title style</a:t>
            </a:r>
            <a:endParaRPr lang="en-IN"/>
          </a:p>
        </p:txBody>
      </p:sp>
      <p:sp>
        <p:nvSpPr>
          <p:cNvPr id="3" name="Subtitle 2"/>
          <p:cNvSpPr>
            <a:spLocks noGrp="1"/>
          </p:cNvSpPr>
          <p:nvPr>
            <p:ph type="subTitle" idx="1"/>
          </p:nvPr>
        </p:nvSpPr>
        <p:spPr>
          <a:xfrm>
            <a:off x="1828800" y="4322446"/>
            <a:ext cx="10972800" cy="1986914"/>
          </a:xfrm>
          <a:prstGeom prst="rect">
            <a:avLst/>
          </a:prstGeo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p:cNvSpPr>
            <a:spLocks noGrp="1"/>
          </p:cNvSpPr>
          <p:nvPr>
            <p:ph type="dt" sz="half" idx="10"/>
          </p:nvPr>
        </p:nvSpPr>
        <p:spPr>
          <a:xfrm>
            <a:off x="1005840" y="7627621"/>
            <a:ext cx="3291840" cy="438150"/>
          </a:xfrm>
          <a:prstGeom prst="rect">
            <a:avLst/>
          </a:prstGeom>
        </p:spPr>
        <p:txBody>
          <a:bodyPr/>
          <a:lstStyle/>
          <a:p>
            <a:fld id="{A18451B6-0EFA-49B5-AA38-A844DC20CD26}" type="datetimeFigureOut">
              <a:rPr lang="en-IN" smtClean="0"/>
              <a:pPr/>
              <a:t>15-11-2025</a:t>
            </a:fld>
            <a:endParaRPr lang="en-IN"/>
          </a:p>
        </p:txBody>
      </p:sp>
      <p:sp>
        <p:nvSpPr>
          <p:cNvPr id="5" name="Footer Placeholder 4"/>
          <p:cNvSpPr>
            <a:spLocks noGrp="1"/>
          </p:cNvSpPr>
          <p:nvPr>
            <p:ph type="ftr" sz="quarter" idx="11"/>
          </p:nvPr>
        </p:nvSpPr>
        <p:spPr>
          <a:xfrm>
            <a:off x="4846320" y="7627621"/>
            <a:ext cx="4937760" cy="438150"/>
          </a:xfrm>
          <a:prstGeom prst="rect">
            <a:avLst/>
          </a:prstGeom>
        </p:spPr>
        <p:txBody>
          <a:bodyPr/>
          <a:lstStyle/>
          <a:p>
            <a:endParaRPr lang="en-IN"/>
          </a:p>
        </p:txBody>
      </p:sp>
      <p:sp>
        <p:nvSpPr>
          <p:cNvPr id="6" name="Slide Number Placeholder 5"/>
          <p:cNvSpPr>
            <a:spLocks noGrp="1"/>
          </p:cNvSpPr>
          <p:nvPr>
            <p:ph type="sldNum" sz="quarter" idx="12"/>
          </p:nvPr>
        </p:nvSpPr>
        <p:spPr>
          <a:xfrm>
            <a:off x="10332720" y="7627621"/>
            <a:ext cx="3291840" cy="438150"/>
          </a:xfrm>
          <a:prstGeom prst="rect">
            <a:avLst/>
          </a:prstGeom>
        </p:spPr>
        <p:txBody>
          <a:bodyPr/>
          <a:lstStyle/>
          <a:p>
            <a:fld id="{E02CD0DA-A14C-40D2-9045-6D0ECF816272}" type="slidenum">
              <a:rPr lang="en-IN" smtClean="0"/>
              <a:pPr/>
              <a:t>‹#›</a:t>
            </a:fld>
            <a:endParaRPr lang="en-IN"/>
          </a:p>
        </p:txBody>
      </p:sp>
    </p:spTree>
    <p:extLst>
      <p:ext uri="{BB962C8B-B14F-4D97-AF65-F5344CB8AC3E}">
        <p14:creationId xmlns:p14="http://schemas.microsoft.com/office/powerpoint/2010/main" xmlns="" val="1548343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5.png"/><Relationship Id="rId3" Type="http://schemas.openxmlformats.org/officeDocument/2006/relationships/image" Target="../media/image7.png"/><Relationship Id="rId7" Type="http://schemas.openxmlformats.org/officeDocument/2006/relationships/image" Target="../media/image-6-6.svg"/><Relationship Id="rId12" Type="http://schemas.openxmlformats.org/officeDocument/2006/relationships/image" Target="../media/image-6-12.sv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6-3.svg"/><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6-9.svg"/></Relationships>
</file>

<file path=ppt/slides/_rels/slide8.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6.svg"/><Relationship Id="rId5" Type="http://schemas.openxmlformats.org/officeDocument/2006/relationships/image" Target="../media/image-7-4.svg"/><Relationship Id="rId4" Type="http://schemas.openxmlformats.org/officeDocument/2006/relationships/image" Target="../media/image-7-2.svg"/><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364" y="-1899138"/>
            <a:ext cx="14451037" cy="4164184"/>
          </a:xfrm>
        </p:spPr>
        <p:txBody>
          <a:bodyPr>
            <a:noAutofit/>
          </a:bodyPr>
          <a:lstStyle/>
          <a:p>
            <a:r>
              <a:rPr lang="en-IN" sz="3120" b="1" dirty="0">
                <a:solidFill>
                  <a:schemeClr val="accent5">
                    <a:lumMod val="50000"/>
                  </a:schemeClr>
                </a:solidFill>
                <a:latin typeface="Times New Roman" panose="02020603050405020304" pitchFamily="18" charset="0"/>
                <a:cs typeface="Times New Roman" panose="02020603050405020304" pitchFamily="18" charset="0"/>
              </a:rPr>
              <a:t>MADHAV INSTITUTE OF TECHNOLOGY AND SCIENCE, GWALIOR</a:t>
            </a:r>
            <a:br>
              <a:rPr lang="en-IN" sz="3120" b="1" dirty="0">
                <a:solidFill>
                  <a:schemeClr val="accent5">
                    <a:lumMod val="50000"/>
                  </a:schemeClr>
                </a:solidFill>
                <a:latin typeface="Times New Roman" panose="02020603050405020304" pitchFamily="18" charset="0"/>
                <a:cs typeface="Times New Roman" panose="02020603050405020304" pitchFamily="18" charset="0"/>
              </a:rPr>
            </a:br>
            <a:r>
              <a:rPr lang="en-US" sz="2400" b="1" dirty="0">
                <a:solidFill>
                  <a:srgbClr val="C00000"/>
                </a:solidFill>
                <a:latin typeface="Times New Roman" panose="02020603050405020304" pitchFamily="18" charset="0"/>
                <a:cs typeface="Times New Roman" panose="02020603050405020304" pitchFamily="18" charset="0"/>
              </a:rPr>
              <a:t>(A Govt. Aided UGC Autonomous Institute, Affiliated to RGPV, Bhopal)</a:t>
            </a:r>
            <a:r>
              <a:rPr lang="en-IN" sz="3360" dirty="0">
                <a:latin typeface="Times New Roman" panose="02020603050405020304" pitchFamily="18" charset="0"/>
                <a:cs typeface="Times New Roman" panose="02020603050405020304" pitchFamily="18" charset="0"/>
              </a:rPr>
              <a:t/>
            </a:r>
            <a:br>
              <a:rPr lang="en-IN" sz="3360" dirty="0">
                <a:latin typeface="Times New Roman" panose="02020603050405020304" pitchFamily="18" charset="0"/>
                <a:cs typeface="Times New Roman" panose="02020603050405020304" pitchFamily="18" charset="0"/>
              </a:rPr>
            </a:br>
            <a:r>
              <a:rPr lang="en-US" sz="2400" b="1" i="1" u="sng" dirty="0">
                <a:latin typeface="Times New Roman" panose="02020603050405020304" pitchFamily="18" charset="0"/>
                <a:cs typeface="Times New Roman" panose="02020603050405020304" pitchFamily="18" charset="0"/>
              </a:rPr>
              <a:t>NAAC Accredited with A++ Grade</a:t>
            </a:r>
            <a:br>
              <a:rPr lang="en-US" sz="2400" b="1" i="1" u="sng" dirty="0">
                <a:latin typeface="Times New Roman" panose="02020603050405020304" pitchFamily="18" charset="0"/>
                <a:cs typeface="Times New Roman" panose="02020603050405020304" pitchFamily="18" charset="0"/>
              </a:rPr>
            </a:br>
            <a:r>
              <a:rPr lang="en-IN" sz="3360" dirty="0">
                <a:latin typeface="Times New Roman" panose="02020603050405020304" pitchFamily="18" charset="0"/>
                <a:cs typeface="Times New Roman" panose="02020603050405020304" pitchFamily="18" charset="0"/>
              </a:rPr>
              <a:t/>
            </a:r>
            <a:br>
              <a:rPr lang="en-IN" sz="3360" dirty="0">
                <a:latin typeface="Times New Roman" panose="02020603050405020304" pitchFamily="18" charset="0"/>
                <a:cs typeface="Times New Roman" panose="02020603050405020304" pitchFamily="18" charset="0"/>
              </a:rPr>
            </a:br>
            <a:r>
              <a:rPr lang="en-US" sz="2880" b="1" u="sng" dirty="0">
                <a:latin typeface="Times New Roman" panose="02020603050405020304" pitchFamily="18" charset="0"/>
                <a:cs typeface="Times New Roman" panose="02020603050405020304" pitchFamily="18" charset="0"/>
              </a:rPr>
              <a:t>DEPARTMENT OF INFORMATION TECHNOLOGY </a:t>
            </a:r>
            <a:endParaRPr lang="en-IN" sz="2880" b="1" u="sng"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79363" y="2412756"/>
            <a:ext cx="14264640" cy="5816844"/>
          </a:xfrm>
        </p:spPr>
        <p:txBody>
          <a:bodyPr>
            <a:normAutofit/>
          </a:bodyPr>
          <a:lstStyle/>
          <a:p>
            <a:r>
              <a:rPr lang="en-IN" sz="2400" dirty="0">
                <a:latin typeface="Times New Roman" panose="02020603050405020304" pitchFamily="18" charset="0"/>
                <a:cs typeface="Times New Roman" panose="02020603050405020304" pitchFamily="18" charset="0"/>
              </a:rPr>
              <a:t>A PRESENTATION </a:t>
            </a:r>
          </a:p>
          <a:p>
            <a:r>
              <a:rPr lang="en-IN" sz="2400" dirty="0">
                <a:latin typeface="Times New Roman" panose="02020603050405020304" pitchFamily="18" charset="0"/>
                <a:cs typeface="Times New Roman" panose="02020603050405020304" pitchFamily="18" charset="0"/>
              </a:rPr>
              <a:t>FOR</a:t>
            </a:r>
          </a:p>
          <a:p>
            <a:r>
              <a:rPr lang="en-IN" b="1" dirty="0">
                <a:solidFill>
                  <a:schemeClr val="accent6">
                    <a:lumMod val="50000"/>
                  </a:schemeClr>
                </a:solidFill>
                <a:latin typeface="Times New Roman" panose="02020603050405020304" pitchFamily="18" charset="0"/>
                <a:cs typeface="Times New Roman" panose="02020603050405020304" pitchFamily="18" charset="0"/>
              </a:rPr>
              <a:t>PROFICIENCY TEST</a:t>
            </a:r>
          </a:p>
          <a:p>
            <a:r>
              <a:rPr lang="en-IN" sz="2400" dirty="0" smtClean="0">
                <a:latin typeface="Times New Roman" panose="02020603050405020304" pitchFamily="18" charset="0"/>
                <a:cs typeface="Times New Roman" panose="02020603050405020304" pitchFamily="18" charset="0"/>
              </a:rPr>
              <a:t>On</a:t>
            </a:r>
          </a:p>
          <a:p>
            <a:r>
              <a:rPr lang="en-IN" b="1" dirty="0" smtClean="0">
                <a:solidFill>
                  <a:srgbClr val="C00000"/>
                </a:solidFill>
                <a:latin typeface="Times New Roman" panose="02020603050405020304" pitchFamily="18" charset="0"/>
                <a:cs typeface="Times New Roman" panose="02020603050405020304" pitchFamily="18" charset="0"/>
              </a:rPr>
              <a:t>Universal Human Values &amp; Professional Ethics (1000008)</a:t>
            </a:r>
          </a:p>
          <a:p>
            <a:endParaRPr lang="en-IN" b="1" dirty="0">
              <a:solidFill>
                <a:srgbClr val="C00000"/>
              </a:solidFill>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Branch:</a:t>
            </a:r>
            <a:r>
              <a:rPr lang="en-IN" dirty="0">
                <a:latin typeface="Times New Roman" panose="02020603050405020304" pitchFamily="18" charset="0"/>
                <a:cs typeface="Times New Roman" panose="02020603050405020304" pitchFamily="18" charset="0"/>
              </a:rPr>
              <a:t> Internet of Things(</a:t>
            </a:r>
            <a:r>
              <a:rPr lang="en-IN" dirty="0" err="1">
                <a:latin typeface="Times New Roman" panose="02020603050405020304" pitchFamily="18" charset="0"/>
                <a:cs typeface="Times New Roman" panose="02020603050405020304" pitchFamily="18" charset="0"/>
              </a:rPr>
              <a:t>IoT</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IV </a:t>
            </a:r>
            <a:r>
              <a:rPr lang="en-IN" dirty="0">
                <a:latin typeface="Times New Roman" panose="02020603050405020304" pitchFamily="18" charset="0"/>
                <a:cs typeface="Times New Roman" panose="02020603050405020304" pitchFamily="18" charset="0"/>
              </a:rPr>
              <a:t>Year </a:t>
            </a:r>
            <a:r>
              <a:rPr lang="en-IN" dirty="0" smtClean="0">
                <a:latin typeface="Times New Roman" panose="02020603050405020304" pitchFamily="18" charset="0"/>
                <a:cs typeface="Times New Roman" panose="02020603050405020304" pitchFamily="18" charset="0"/>
              </a:rPr>
              <a:t>VII </a:t>
            </a:r>
            <a:r>
              <a:rPr lang="en-IN" dirty="0">
                <a:latin typeface="Times New Roman" panose="02020603050405020304" pitchFamily="18" charset="0"/>
                <a:cs typeface="Times New Roman" panose="02020603050405020304" pitchFamily="18" charset="0"/>
              </a:rPr>
              <a:t>Semester</a:t>
            </a:r>
          </a:p>
          <a:p>
            <a:r>
              <a:rPr lang="en-IN" b="1" dirty="0">
                <a:latin typeface="Times New Roman" panose="02020603050405020304" pitchFamily="18" charset="0"/>
                <a:cs typeface="Times New Roman" panose="02020603050405020304" pitchFamily="18" charset="0"/>
              </a:rPr>
              <a:t>Session:</a:t>
            </a:r>
            <a:r>
              <a:rPr lang="en-IN" dirty="0">
                <a:latin typeface="Times New Roman" panose="02020603050405020304" pitchFamily="18" charset="0"/>
                <a:cs typeface="Times New Roman" panose="02020603050405020304" pitchFamily="18" charset="0"/>
              </a:rPr>
              <a:t> July-December </a:t>
            </a:r>
            <a:r>
              <a:rPr lang="en-IN" dirty="0" smtClean="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p>
            <a:pPr algn="just">
              <a:lnSpc>
                <a:spcPct val="60000"/>
              </a:lnSpc>
            </a:pPr>
            <a:r>
              <a:rPr lang="en-IN" b="1" dirty="0" smtClean="0">
                <a:latin typeface="Times New Roman" panose="02020603050405020304" pitchFamily="18" charset="0"/>
                <a:cs typeface="Times New Roman" panose="02020603050405020304" pitchFamily="18" charset="0"/>
              </a:rPr>
              <a:t>  Submitted </a:t>
            </a:r>
            <a:r>
              <a:rPr lang="en-IN" b="1" dirty="0">
                <a:latin typeface="Times New Roman" panose="02020603050405020304" pitchFamily="18" charset="0"/>
                <a:cs typeface="Times New Roman" panose="02020603050405020304" pitchFamily="18" charset="0"/>
              </a:rPr>
              <a:t>by: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Submitted to:</a:t>
            </a:r>
          </a:p>
          <a:p>
            <a:pPr algn="just">
              <a:lnSpc>
                <a:spcPct val="60000"/>
              </a:lnSpc>
            </a:pPr>
            <a:r>
              <a:rPr lang="en-IN" dirty="0" smtClean="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Divyanshu</a:t>
            </a:r>
            <a:r>
              <a:rPr lang="en-IN" dirty="0" smtClean="0">
                <a:latin typeface="Times New Roman" panose="02020603050405020304" pitchFamily="18" charset="0"/>
                <a:cs typeface="Times New Roman" panose="02020603050405020304" pitchFamily="18" charset="0"/>
              </a:rPr>
              <a:t> </a:t>
            </a:r>
            <a:r>
              <a:rPr lang="en-IN" smtClean="0">
                <a:latin typeface="Times New Roman" panose="02020603050405020304" pitchFamily="18" charset="0"/>
                <a:cs typeface="Times New Roman" panose="02020603050405020304" pitchFamily="18" charset="0"/>
              </a:rPr>
              <a:t>Rathore</a:t>
            </a:r>
            <a:r>
              <a:rPr lang="en-IN" smtClean="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Dr.</a:t>
            </a:r>
            <a:r>
              <a:rPr lang="en-IN" dirty="0" smtClean="0">
                <a:latin typeface="Times New Roman" panose="02020603050405020304" pitchFamily="18" charset="0"/>
                <a:cs typeface="Times New Roman" panose="02020603050405020304" pitchFamily="18" charset="0"/>
              </a:rPr>
              <a:t> Priyanka Garg</a:t>
            </a:r>
            <a:endParaRPr lang="en-IN" dirty="0">
              <a:latin typeface="Times New Roman" panose="02020603050405020304" pitchFamily="18" charset="0"/>
              <a:cs typeface="Times New Roman" panose="02020603050405020304" pitchFamily="18" charset="0"/>
            </a:endParaRPr>
          </a:p>
          <a:p>
            <a:pPr algn="just">
              <a:lnSpc>
                <a:spcPct val="60000"/>
              </a:lnSpc>
            </a:pPr>
            <a:r>
              <a:rPr lang="en-IN" dirty="0" smtClean="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0901IO221033</a:t>
            </a:r>
            <a:r>
              <a:rPr lang="en-IN" dirty="0">
                <a:latin typeface="Times New Roman" panose="02020603050405020304" pitchFamily="18" charset="0"/>
                <a:cs typeface="Times New Roman" panose="02020603050405020304" pitchFamily="18" charset="0"/>
              </a:rPr>
              <a:t>	                       			                      </a:t>
            </a:r>
          </a:p>
          <a:p>
            <a:pPr algn="just">
              <a:lnSpc>
                <a:spcPct val="50000"/>
              </a:lnSpc>
            </a:pPr>
            <a:r>
              <a:rPr lang="en-IN" dirty="0">
                <a:latin typeface="Times New Roman" panose="02020603050405020304" pitchFamily="18" charset="0"/>
                <a:cs typeface="Times New Roman" panose="02020603050405020304" pitchFamily="18" charset="0"/>
              </a:rPr>
              <a:t>									</a:t>
            </a:r>
          </a:p>
        </p:txBody>
      </p:sp>
      <p:pic>
        <p:nvPicPr>
          <p:cNvPr id="4" name="Picture 3"/>
          <p:cNvPicPr/>
          <p:nvPr/>
        </p:nvPicPr>
        <p:blipFill>
          <a:blip r:embed="rId2" cstate="print">
            <a:extLst>
              <a:ext uri="{28A0092B-C50C-407E-A947-70E740481C1C}">
                <a14:useLocalDpi xmlns:a14="http://schemas.microsoft.com/office/drawing/2010/main" xmlns="" val="0"/>
              </a:ext>
            </a:extLst>
          </a:blip>
          <a:stretch>
            <a:fillRect/>
          </a:stretch>
        </p:blipFill>
        <p:spPr>
          <a:xfrm>
            <a:off x="0" y="151302"/>
            <a:ext cx="1107830" cy="924877"/>
          </a:xfrm>
          <a:prstGeom prst="rect">
            <a:avLst/>
          </a:prstGeom>
        </p:spPr>
      </p:pic>
      <p:pic>
        <p:nvPicPr>
          <p:cNvPr id="5" name="Picture 4"/>
          <p:cNvPicPr>
            <a:picLocks noChangeAspect="1"/>
          </p:cNvPicPr>
          <p:nvPr/>
        </p:nvPicPr>
        <p:blipFill>
          <a:blip r:embed="rId3"/>
          <a:stretch>
            <a:fillRect/>
          </a:stretch>
        </p:blipFill>
        <p:spPr>
          <a:xfrm>
            <a:off x="-3517" y="0"/>
            <a:ext cx="14630400" cy="1435875"/>
          </a:xfrm>
          <a:prstGeom prst="rect">
            <a:avLst/>
          </a:prstGeom>
        </p:spPr>
      </p:pic>
    </p:spTree>
    <p:extLst>
      <p:ext uri="{BB962C8B-B14F-4D97-AF65-F5344CB8AC3E}">
        <p14:creationId xmlns:p14="http://schemas.microsoft.com/office/powerpoint/2010/main" xmlns="" val="1957382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931670"/>
            <a:ext cx="13042821" cy="2480786"/>
          </a:xfrm>
          <a:prstGeom prst="rect">
            <a:avLst/>
          </a:prstGeom>
          <a:noFill/>
          <a:ln/>
        </p:spPr>
        <p:txBody>
          <a:bodyPr wrap="square" lIns="0" tIns="0" rIns="0" bIns="0" rtlCol="0" anchor="t"/>
          <a:lstStyle/>
          <a:p>
            <a:pPr marL="0" indent="0" algn="l">
              <a:lnSpc>
                <a:spcPts val="9750"/>
              </a:lnSpc>
              <a:buNone/>
            </a:pPr>
            <a:r>
              <a:rPr lang="en-US" sz="7800" dirty="0">
                <a:solidFill>
                  <a:srgbClr val="FFFFFF"/>
                </a:solidFill>
                <a:latin typeface="Roboto Medium" pitchFamily="34" charset="0"/>
                <a:ea typeface="Roboto Medium" pitchFamily="34" charset="-122"/>
                <a:cs typeface="Roboto Medium" pitchFamily="34" charset="-120"/>
              </a:rPr>
              <a:t>Understanding Harmony in the Family and Society</a:t>
            </a:r>
            <a:endParaRPr lang="en-US" sz="7800" dirty="0"/>
          </a:p>
        </p:txBody>
      </p:sp>
      <p:sp>
        <p:nvSpPr>
          <p:cNvPr id="3" name="Text 1"/>
          <p:cNvSpPr/>
          <p:nvPr/>
        </p:nvSpPr>
        <p:spPr>
          <a:xfrm>
            <a:off x="793790" y="4710113"/>
            <a:ext cx="13042821" cy="1587818"/>
          </a:xfrm>
          <a:prstGeom prst="rect">
            <a:avLst/>
          </a:prstGeom>
          <a:noFill/>
          <a:ln/>
        </p:spPr>
        <p:txBody>
          <a:bodyPr wrap="square" lIns="0" tIns="0" rIns="0" bIns="0" rtlCol="0" anchor="t"/>
          <a:lstStyle/>
          <a:p>
            <a:pPr marL="0" indent="0" algn="l">
              <a:lnSpc>
                <a:spcPts val="3100"/>
              </a:lnSpc>
              <a:buNone/>
            </a:pPr>
            <a:r>
              <a:rPr lang="en-US" sz="1950" dirty="0">
                <a:solidFill>
                  <a:srgbClr val="CFD0D8"/>
                </a:solidFill>
                <a:latin typeface="Roboto" pitchFamily="34" charset="0"/>
                <a:ea typeface="Roboto" pitchFamily="34" charset="-122"/>
                <a:cs typeface="Roboto" pitchFamily="34" charset="-120"/>
              </a:rPr>
              <a:t>Embark on an inspiring journey to consciously cultivate foundational human values such as respect, empathy, and integrity within our families and communities. This exploration deepens understanding, strengthens bonds, and fosters a profound, mutual happiness that resonates across all relationships, laying the groundwork for a more harmonious society.</a:t>
            </a:r>
            <a:endParaRPr lang="en-US" sz="1950" dirty="0"/>
          </a:p>
        </p:txBody>
      </p:sp>
      <p:pic>
        <p:nvPicPr>
          <p:cNvPr id="4" name="Picture 3"/>
          <p:cNvPicPr>
            <a:picLocks noChangeAspect="1"/>
          </p:cNvPicPr>
          <p:nvPr/>
        </p:nvPicPr>
        <p:blipFill>
          <a:blip r:embed="rId3"/>
          <a:stretch>
            <a:fillRect/>
          </a:stretch>
        </p:blipFill>
        <p:spPr>
          <a:xfrm>
            <a:off x="11058026" y="7715178"/>
            <a:ext cx="3572374" cy="5144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41884"/>
            <a:ext cx="11363682" cy="620078"/>
          </a:xfrm>
          <a:prstGeom prst="rect">
            <a:avLst/>
          </a:prstGeom>
          <a:noFill/>
          <a:ln/>
        </p:spPr>
        <p:txBody>
          <a:bodyPr wrap="none" lIns="0" tIns="0" rIns="0" bIns="0" rtlCol="0" anchor="t"/>
          <a:lstStyle/>
          <a:p>
            <a:pPr marL="0" indent="0" algn="l">
              <a:lnSpc>
                <a:spcPts val="4850"/>
              </a:lnSpc>
              <a:buNone/>
            </a:pPr>
            <a:r>
              <a:rPr lang="en-US" sz="3900" dirty="0">
                <a:solidFill>
                  <a:srgbClr val="FFFFFF"/>
                </a:solidFill>
                <a:latin typeface="Roboto Medium" pitchFamily="34" charset="0"/>
                <a:ea typeface="Roboto Medium" pitchFamily="34" charset="-122"/>
                <a:cs typeface="Roboto Medium" pitchFamily="34" charset="-120"/>
              </a:rPr>
              <a:t>Harmony Begins with Human-Human Relationships</a:t>
            </a:r>
            <a:endParaRPr lang="en-US" sz="3900" dirty="0"/>
          </a:p>
        </p:txBody>
      </p:sp>
      <p:sp>
        <p:nvSpPr>
          <p:cNvPr id="3" name="Text 1"/>
          <p:cNvSpPr/>
          <p:nvPr/>
        </p:nvSpPr>
        <p:spPr>
          <a:xfrm>
            <a:off x="793790" y="2659618"/>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Every relationship exists between two conscious beings—Self I1 and Self I2. Within these connections emerge profound feelings that define the quality of our bonds. These are not abstract emotions but definite, identifiable states: </a:t>
            </a:r>
            <a:r>
              <a:rPr lang="en-US" sz="1550" b="1" dirty="0">
                <a:solidFill>
                  <a:srgbClr val="CFD0D8"/>
                </a:solidFill>
                <a:latin typeface="Roboto" pitchFamily="34" charset="0"/>
                <a:ea typeface="Roboto" pitchFamily="34" charset="-122"/>
                <a:cs typeface="Roboto" pitchFamily="34" charset="-120"/>
              </a:rPr>
              <a:t>trust, respect, affection, care, guidance, reverence, glory, gratitude, and love.</a:t>
            </a:r>
            <a:endParaRPr lang="en-US" sz="1550" dirty="0"/>
          </a:p>
        </p:txBody>
      </p:sp>
      <p:sp>
        <p:nvSpPr>
          <p:cNvPr id="4" name="Text 2"/>
          <p:cNvSpPr/>
          <p:nvPr/>
        </p:nvSpPr>
        <p:spPr>
          <a:xfrm>
            <a:off x="793790" y="3835479"/>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When we consciously recognize and fulfill these nine universal values, we create the conditions for mutual happiness. Each feeling serves a specific purpose in nurturing authentic connection. Understanding their meaning and implementing them with intention transforms ordinary relationships into sources of deep fulfillment and harmony.</a:t>
            </a:r>
            <a:endParaRPr lang="en-US" sz="1550" dirty="0"/>
          </a:p>
        </p:txBody>
      </p:sp>
      <p:sp>
        <p:nvSpPr>
          <p:cNvPr id="5" name="Shape 3"/>
          <p:cNvSpPr/>
          <p:nvPr/>
        </p:nvSpPr>
        <p:spPr>
          <a:xfrm>
            <a:off x="793790" y="5011341"/>
            <a:ext cx="4215289" cy="1476256"/>
          </a:xfrm>
          <a:prstGeom prst="roundRect">
            <a:avLst>
              <a:gd name="adj" fmla="val 5647"/>
            </a:avLst>
          </a:prstGeom>
          <a:solidFill>
            <a:srgbClr val="182567"/>
          </a:solidFill>
          <a:ln w="7620">
            <a:solidFill>
              <a:srgbClr val="313E80"/>
            </a:solidFill>
            <a:prstDash val="solid"/>
          </a:ln>
        </p:spPr>
      </p:sp>
      <p:sp>
        <p:nvSpPr>
          <p:cNvPr id="6" name="Text 4"/>
          <p:cNvSpPr/>
          <p:nvPr/>
        </p:nvSpPr>
        <p:spPr>
          <a:xfrm>
            <a:off x="999768" y="521731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Roboto Medium" pitchFamily="34" charset="0"/>
                <a:ea typeface="Roboto Medium" pitchFamily="34" charset="-122"/>
                <a:cs typeface="Roboto Medium" pitchFamily="34" charset="-120"/>
              </a:rPr>
              <a:t>Self I1</a:t>
            </a:r>
            <a:endParaRPr lang="en-US" sz="1950" dirty="0"/>
          </a:p>
        </p:txBody>
      </p:sp>
      <p:sp>
        <p:nvSpPr>
          <p:cNvPr id="7" name="Text 5"/>
          <p:cNvSpPr/>
          <p:nvPr/>
        </p:nvSpPr>
        <p:spPr>
          <a:xfrm>
            <a:off x="999768" y="5646539"/>
            <a:ext cx="3803333" cy="317540"/>
          </a:xfrm>
          <a:prstGeom prst="rect">
            <a:avLst/>
          </a:prstGeom>
          <a:noFill/>
          <a:ln/>
        </p:spPr>
        <p:txBody>
          <a:bodyPr wrap="non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The first conscious being</a:t>
            </a:r>
            <a:endParaRPr lang="en-US" sz="1550" dirty="0"/>
          </a:p>
        </p:txBody>
      </p:sp>
      <p:sp>
        <p:nvSpPr>
          <p:cNvPr id="8" name="Shape 6"/>
          <p:cNvSpPr/>
          <p:nvPr/>
        </p:nvSpPr>
        <p:spPr>
          <a:xfrm>
            <a:off x="5207437" y="5011341"/>
            <a:ext cx="4215408" cy="1476256"/>
          </a:xfrm>
          <a:prstGeom prst="roundRect">
            <a:avLst>
              <a:gd name="adj" fmla="val 5647"/>
            </a:avLst>
          </a:prstGeom>
          <a:solidFill>
            <a:srgbClr val="182567"/>
          </a:solidFill>
          <a:ln w="7620">
            <a:solidFill>
              <a:srgbClr val="313E80"/>
            </a:solidFill>
            <a:prstDash val="solid"/>
          </a:ln>
        </p:spPr>
      </p:sp>
      <p:sp>
        <p:nvSpPr>
          <p:cNvPr id="9" name="Text 7"/>
          <p:cNvSpPr/>
          <p:nvPr/>
        </p:nvSpPr>
        <p:spPr>
          <a:xfrm>
            <a:off x="5413415" y="521731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Roboto Medium" pitchFamily="34" charset="0"/>
                <a:ea typeface="Roboto Medium" pitchFamily="34" charset="-122"/>
                <a:cs typeface="Roboto Medium" pitchFamily="34" charset="-120"/>
              </a:rPr>
              <a:t>Nine Values</a:t>
            </a:r>
            <a:endParaRPr lang="en-US" sz="1950" dirty="0"/>
          </a:p>
        </p:txBody>
      </p:sp>
      <p:sp>
        <p:nvSpPr>
          <p:cNvPr id="10" name="Text 8"/>
          <p:cNvSpPr/>
          <p:nvPr/>
        </p:nvSpPr>
        <p:spPr>
          <a:xfrm>
            <a:off x="5413415" y="5646539"/>
            <a:ext cx="3803452"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Trust, Respect, Affection, Care, Guidance, Reverence, Glory, Gratitude, Love</a:t>
            </a:r>
            <a:endParaRPr lang="en-US" sz="1550" dirty="0"/>
          </a:p>
        </p:txBody>
      </p:sp>
      <p:sp>
        <p:nvSpPr>
          <p:cNvPr id="11" name="Shape 9"/>
          <p:cNvSpPr/>
          <p:nvPr/>
        </p:nvSpPr>
        <p:spPr>
          <a:xfrm>
            <a:off x="9621203" y="5011341"/>
            <a:ext cx="4215289" cy="1476256"/>
          </a:xfrm>
          <a:prstGeom prst="roundRect">
            <a:avLst>
              <a:gd name="adj" fmla="val 5647"/>
            </a:avLst>
          </a:prstGeom>
          <a:solidFill>
            <a:srgbClr val="182567"/>
          </a:solidFill>
          <a:ln w="7620">
            <a:solidFill>
              <a:srgbClr val="313E80"/>
            </a:solidFill>
            <a:prstDash val="solid"/>
          </a:ln>
        </p:spPr>
      </p:sp>
      <p:sp>
        <p:nvSpPr>
          <p:cNvPr id="12" name="Text 10"/>
          <p:cNvSpPr/>
          <p:nvPr/>
        </p:nvSpPr>
        <p:spPr>
          <a:xfrm>
            <a:off x="9827181" y="521731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Roboto Medium" pitchFamily="34" charset="0"/>
                <a:ea typeface="Roboto Medium" pitchFamily="34" charset="-122"/>
                <a:cs typeface="Roboto Medium" pitchFamily="34" charset="-120"/>
              </a:rPr>
              <a:t>Self I2</a:t>
            </a:r>
            <a:endParaRPr lang="en-US" sz="1950" dirty="0"/>
          </a:p>
        </p:txBody>
      </p:sp>
      <p:sp>
        <p:nvSpPr>
          <p:cNvPr id="13" name="Text 11"/>
          <p:cNvSpPr/>
          <p:nvPr/>
        </p:nvSpPr>
        <p:spPr>
          <a:xfrm>
            <a:off x="9827181" y="5646539"/>
            <a:ext cx="3803333" cy="317540"/>
          </a:xfrm>
          <a:prstGeom prst="rect">
            <a:avLst/>
          </a:prstGeom>
          <a:noFill/>
          <a:ln/>
        </p:spPr>
        <p:txBody>
          <a:bodyPr wrap="non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The second conscious being</a:t>
            </a:r>
            <a:endParaRPr lang="en-US" sz="1550" dirty="0"/>
          </a:p>
        </p:txBody>
      </p:sp>
      <p:pic>
        <p:nvPicPr>
          <p:cNvPr id="14" name="Picture 13"/>
          <p:cNvPicPr>
            <a:picLocks noChangeAspect="1"/>
          </p:cNvPicPr>
          <p:nvPr/>
        </p:nvPicPr>
        <p:blipFill>
          <a:blip r:embed="rId3"/>
          <a:stretch>
            <a:fillRect/>
          </a:stretch>
        </p:blipFill>
        <p:spPr>
          <a:xfrm>
            <a:off x="11058026" y="7715178"/>
            <a:ext cx="3572374" cy="51442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88275" y="335637"/>
            <a:ext cx="5816679" cy="381357"/>
          </a:xfrm>
          <a:prstGeom prst="rect">
            <a:avLst/>
          </a:prstGeom>
          <a:noFill/>
          <a:ln/>
        </p:spPr>
        <p:txBody>
          <a:bodyPr wrap="none" lIns="0" tIns="0" rIns="0" bIns="0" rtlCol="0" anchor="t"/>
          <a:lstStyle/>
          <a:p>
            <a:pPr marL="0" indent="0" algn="l">
              <a:lnSpc>
                <a:spcPts val="3000"/>
              </a:lnSpc>
              <a:buNone/>
            </a:pPr>
            <a:r>
              <a:rPr lang="en-US" sz="2400" dirty="0">
                <a:solidFill>
                  <a:srgbClr val="FFFFFF"/>
                </a:solidFill>
                <a:latin typeface="Roboto Medium" pitchFamily="34" charset="0"/>
                <a:ea typeface="Roboto Medium" pitchFamily="34" charset="-122"/>
                <a:cs typeface="Roboto Medium" pitchFamily="34" charset="-120"/>
              </a:rPr>
              <a:t>The Nine Universal Values in Relationships</a:t>
            </a:r>
            <a:endParaRPr lang="en-US" sz="2400" dirty="0"/>
          </a:p>
        </p:txBody>
      </p:sp>
      <p:sp>
        <p:nvSpPr>
          <p:cNvPr id="3" name="Text 1"/>
          <p:cNvSpPr/>
          <p:nvPr/>
        </p:nvSpPr>
        <p:spPr>
          <a:xfrm>
            <a:off x="488275" y="961073"/>
            <a:ext cx="13653849" cy="195262"/>
          </a:xfrm>
          <a:prstGeom prst="rect">
            <a:avLst/>
          </a:prstGeom>
          <a:noFill/>
          <a:ln/>
        </p:spPr>
        <p:txBody>
          <a:bodyPr wrap="none" lIns="0" tIns="0" rIns="0" bIns="0" rtlCol="0" anchor="t"/>
          <a:lstStyle/>
          <a:p>
            <a:pPr marL="0" indent="0" algn="l">
              <a:lnSpc>
                <a:spcPts val="1500"/>
              </a:lnSpc>
              <a:buNone/>
            </a:pPr>
            <a:r>
              <a:rPr lang="en-US" sz="950" dirty="0">
                <a:solidFill>
                  <a:srgbClr val="CFD0D8"/>
                </a:solidFill>
                <a:latin typeface="Roboto" pitchFamily="34" charset="0"/>
                <a:ea typeface="Roboto" pitchFamily="34" charset="-122"/>
                <a:cs typeface="Roboto" pitchFamily="34" charset="-120"/>
              </a:rPr>
              <a:t>These nine values form the foundation of all harmonious relationships. Each represents a distinct dimension of authentic connection and mutual care:</a:t>
            </a:r>
            <a:endParaRPr lang="en-US" sz="950" dirty="0"/>
          </a:p>
        </p:txBody>
      </p:sp>
      <p:sp>
        <p:nvSpPr>
          <p:cNvPr id="4" name="Shape 2"/>
          <p:cNvSpPr/>
          <p:nvPr/>
        </p:nvSpPr>
        <p:spPr>
          <a:xfrm>
            <a:off x="488275" y="1293614"/>
            <a:ext cx="13653849" cy="733782"/>
          </a:xfrm>
          <a:prstGeom prst="roundRect">
            <a:avLst>
              <a:gd name="adj" fmla="val 6988"/>
            </a:avLst>
          </a:prstGeom>
          <a:solidFill>
            <a:srgbClr val="000018">
              <a:alpha val="95000"/>
            </a:srgbClr>
          </a:solidFill>
          <a:ln w="15240">
            <a:solidFill>
              <a:srgbClr val="313E80"/>
            </a:solidFill>
            <a:prstDash val="solid"/>
          </a:ln>
        </p:spPr>
      </p:sp>
      <p:sp>
        <p:nvSpPr>
          <p:cNvPr id="5" name="Shape 3"/>
          <p:cNvSpPr/>
          <p:nvPr/>
        </p:nvSpPr>
        <p:spPr>
          <a:xfrm>
            <a:off x="503515" y="1308854"/>
            <a:ext cx="488275" cy="703302"/>
          </a:xfrm>
          <a:prstGeom prst="roundRect">
            <a:avLst>
              <a:gd name="adj" fmla="val 6756"/>
            </a:avLst>
          </a:prstGeom>
          <a:solidFill>
            <a:srgbClr val="182567"/>
          </a:solidFill>
          <a:ln/>
        </p:spPr>
      </p:sp>
      <p:sp>
        <p:nvSpPr>
          <p:cNvPr id="6" name="Text 4"/>
          <p:cNvSpPr/>
          <p:nvPr/>
        </p:nvSpPr>
        <p:spPr>
          <a:xfrm>
            <a:off x="652224" y="1546027"/>
            <a:ext cx="183118" cy="228838"/>
          </a:xfrm>
          <a:prstGeom prst="rect">
            <a:avLst/>
          </a:prstGeom>
          <a:noFill/>
          <a:ln/>
        </p:spPr>
        <p:txBody>
          <a:bodyPr wrap="none" lIns="0" tIns="0" rIns="0" bIns="0" rtlCol="0" anchor="t"/>
          <a:lstStyle/>
          <a:p>
            <a:pPr marL="0" indent="0" algn="l">
              <a:lnSpc>
                <a:spcPts val="1400"/>
              </a:lnSpc>
              <a:buNone/>
            </a:pPr>
            <a:r>
              <a:rPr lang="en-US" sz="1400" dirty="0">
                <a:solidFill>
                  <a:srgbClr val="CFD0D8"/>
                </a:solidFill>
                <a:latin typeface="Roboto Medium" pitchFamily="34" charset="0"/>
                <a:ea typeface="Roboto Medium" pitchFamily="34" charset="-122"/>
                <a:cs typeface="Roboto Medium" pitchFamily="34" charset="-120"/>
              </a:rPr>
              <a:t>1</a:t>
            </a:r>
            <a:endParaRPr lang="en-US" sz="1400" dirty="0"/>
          </a:p>
        </p:txBody>
      </p:sp>
      <p:sp>
        <p:nvSpPr>
          <p:cNvPr id="7" name="Text 5"/>
          <p:cNvSpPr/>
          <p:nvPr/>
        </p:nvSpPr>
        <p:spPr>
          <a:xfrm>
            <a:off x="1113830" y="1430893"/>
            <a:ext cx="1525905" cy="190738"/>
          </a:xfrm>
          <a:prstGeom prst="rect">
            <a:avLst/>
          </a:prstGeom>
          <a:noFill/>
          <a:ln/>
        </p:spPr>
        <p:txBody>
          <a:bodyPr wrap="none" lIns="0" tIns="0" rIns="0" bIns="0" rtlCol="0" anchor="t"/>
          <a:lstStyle/>
          <a:p>
            <a:pPr marL="0" indent="0" algn="l">
              <a:lnSpc>
                <a:spcPts val="1500"/>
              </a:lnSpc>
              <a:buNone/>
            </a:pPr>
            <a:r>
              <a:rPr lang="en-US" sz="1200" dirty="0">
                <a:solidFill>
                  <a:srgbClr val="CFD0D8"/>
                </a:solidFill>
                <a:latin typeface="Roboto Medium" pitchFamily="34" charset="0"/>
                <a:ea typeface="Roboto Medium" pitchFamily="34" charset="-122"/>
                <a:cs typeface="Roboto Medium" pitchFamily="34" charset="-120"/>
              </a:rPr>
              <a:t>Trust</a:t>
            </a:r>
            <a:endParaRPr lang="en-US" sz="1200" dirty="0"/>
          </a:p>
        </p:txBody>
      </p:sp>
      <p:sp>
        <p:nvSpPr>
          <p:cNvPr id="8" name="Text 6"/>
          <p:cNvSpPr/>
          <p:nvPr/>
        </p:nvSpPr>
        <p:spPr>
          <a:xfrm>
            <a:off x="1113830" y="1694855"/>
            <a:ext cx="12891016" cy="195262"/>
          </a:xfrm>
          <a:prstGeom prst="rect">
            <a:avLst/>
          </a:prstGeom>
          <a:noFill/>
          <a:ln/>
        </p:spPr>
        <p:txBody>
          <a:bodyPr wrap="none" lIns="0" tIns="0" rIns="0" bIns="0" rtlCol="0" anchor="t"/>
          <a:lstStyle/>
          <a:p>
            <a:pPr marL="0" indent="0" algn="l">
              <a:lnSpc>
                <a:spcPts val="1500"/>
              </a:lnSpc>
              <a:buNone/>
            </a:pPr>
            <a:r>
              <a:rPr lang="en-US" sz="950" dirty="0">
                <a:solidFill>
                  <a:srgbClr val="CFD0D8"/>
                </a:solidFill>
                <a:latin typeface="Roboto" pitchFamily="34" charset="0"/>
                <a:ea typeface="Roboto" pitchFamily="34" charset="-122"/>
                <a:cs typeface="Roboto" pitchFamily="34" charset="-120"/>
              </a:rPr>
              <a:t>Assurance in the other's intention to bring happiness and prosperity</a:t>
            </a:r>
            <a:endParaRPr lang="en-US" sz="950" dirty="0"/>
          </a:p>
        </p:txBody>
      </p:sp>
      <p:sp>
        <p:nvSpPr>
          <p:cNvPr id="9" name="Shape 7"/>
          <p:cNvSpPr/>
          <p:nvPr/>
        </p:nvSpPr>
        <p:spPr>
          <a:xfrm>
            <a:off x="488275" y="2149435"/>
            <a:ext cx="13653849" cy="733782"/>
          </a:xfrm>
          <a:prstGeom prst="roundRect">
            <a:avLst>
              <a:gd name="adj" fmla="val 6988"/>
            </a:avLst>
          </a:prstGeom>
          <a:solidFill>
            <a:srgbClr val="000018">
              <a:alpha val="95000"/>
            </a:srgbClr>
          </a:solidFill>
          <a:ln w="15240">
            <a:solidFill>
              <a:srgbClr val="313E80"/>
            </a:solidFill>
            <a:prstDash val="solid"/>
          </a:ln>
        </p:spPr>
      </p:sp>
      <p:sp>
        <p:nvSpPr>
          <p:cNvPr id="10" name="Shape 8"/>
          <p:cNvSpPr/>
          <p:nvPr/>
        </p:nvSpPr>
        <p:spPr>
          <a:xfrm>
            <a:off x="503515" y="2164675"/>
            <a:ext cx="488275" cy="703302"/>
          </a:xfrm>
          <a:prstGeom prst="roundRect">
            <a:avLst>
              <a:gd name="adj" fmla="val 6756"/>
            </a:avLst>
          </a:prstGeom>
          <a:solidFill>
            <a:srgbClr val="182567"/>
          </a:solidFill>
          <a:ln/>
        </p:spPr>
      </p:sp>
      <p:sp>
        <p:nvSpPr>
          <p:cNvPr id="11" name="Text 9"/>
          <p:cNvSpPr/>
          <p:nvPr/>
        </p:nvSpPr>
        <p:spPr>
          <a:xfrm>
            <a:off x="652224" y="2401848"/>
            <a:ext cx="183118" cy="228838"/>
          </a:xfrm>
          <a:prstGeom prst="rect">
            <a:avLst/>
          </a:prstGeom>
          <a:noFill/>
          <a:ln/>
        </p:spPr>
        <p:txBody>
          <a:bodyPr wrap="none" lIns="0" tIns="0" rIns="0" bIns="0" rtlCol="0" anchor="t"/>
          <a:lstStyle/>
          <a:p>
            <a:pPr marL="0" indent="0" algn="l">
              <a:lnSpc>
                <a:spcPts val="1400"/>
              </a:lnSpc>
              <a:buNone/>
            </a:pPr>
            <a:r>
              <a:rPr lang="en-US" sz="1400" dirty="0">
                <a:solidFill>
                  <a:srgbClr val="CFD0D8"/>
                </a:solidFill>
                <a:latin typeface="Roboto Medium" pitchFamily="34" charset="0"/>
                <a:ea typeface="Roboto Medium" pitchFamily="34" charset="-122"/>
                <a:cs typeface="Roboto Medium" pitchFamily="34" charset="-120"/>
              </a:rPr>
              <a:t>2</a:t>
            </a:r>
            <a:endParaRPr lang="en-US" sz="1400" dirty="0"/>
          </a:p>
        </p:txBody>
      </p:sp>
      <p:sp>
        <p:nvSpPr>
          <p:cNvPr id="12" name="Text 10"/>
          <p:cNvSpPr/>
          <p:nvPr/>
        </p:nvSpPr>
        <p:spPr>
          <a:xfrm>
            <a:off x="1113830" y="2286714"/>
            <a:ext cx="1525905" cy="190738"/>
          </a:xfrm>
          <a:prstGeom prst="rect">
            <a:avLst/>
          </a:prstGeom>
          <a:noFill/>
          <a:ln/>
        </p:spPr>
        <p:txBody>
          <a:bodyPr wrap="none" lIns="0" tIns="0" rIns="0" bIns="0" rtlCol="0" anchor="t"/>
          <a:lstStyle/>
          <a:p>
            <a:pPr marL="0" indent="0" algn="l">
              <a:lnSpc>
                <a:spcPts val="1500"/>
              </a:lnSpc>
              <a:buNone/>
            </a:pPr>
            <a:r>
              <a:rPr lang="en-US" sz="1200" dirty="0">
                <a:solidFill>
                  <a:srgbClr val="CFD0D8"/>
                </a:solidFill>
                <a:latin typeface="Roboto Medium" pitchFamily="34" charset="0"/>
                <a:ea typeface="Roboto Medium" pitchFamily="34" charset="-122"/>
                <a:cs typeface="Roboto Medium" pitchFamily="34" charset="-120"/>
              </a:rPr>
              <a:t>Respect</a:t>
            </a:r>
            <a:endParaRPr lang="en-US" sz="1200" dirty="0"/>
          </a:p>
        </p:txBody>
      </p:sp>
      <p:sp>
        <p:nvSpPr>
          <p:cNvPr id="13" name="Text 11"/>
          <p:cNvSpPr/>
          <p:nvPr/>
        </p:nvSpPr>
        <p:spPr>
          <a:xfrm>
            <a:off x="1113830" y="2550676"/>
            <a:ext cx="12891016" cy="195262"/>
          </a:xfrm>
          <a:prstGeom prst="rect">
            <a:avLst/>
          </a:prstGeom>
          <a:noFill/>
          <a:ln/>
        </p:spPr>
        <p:txBody>
          <a:bodyPr wrap="none" lIns="0" tIns="0" rIns="0" bIns="0" rtlCol="0" anchor="t"/>
          <a:lstStyle/>
          <a:p>
            <a:pPr marL="0" indent="0" algn="l">
              <a:lnSpc>
                <a:spcPts val="1500"/>
              </a:lnSpc>
              <a:buNone/>
            </a:pPr>
            <a:r>
              <a:rPr lang="en-US" sz="950" dirty="0">
                <a:solidFill>
                  <a:srgbClr val="CFD0D8"/>
                </a:solidFill>
                <a:latin typeface="Roboto" pitchFamily="34" charset="0"/>
                <a:ea typeface="Roboto" pitchFamily="34" charset="-122"/>
                <a:cs typeface="Roboto" pitchFamily="34" charset="-120"/>
              </a:rPr>
              <a:t>Acceptance of the other's inherent worth and dignity</a:t>
            </a:r>
            <a:endParaRPr lang="en-US" sz="950" dirty="0"/>
          </a:p>
        </p:txBody>
      </p:sp>
      <p:sp>
        <p:nvSpPr>
          <p:cNvPr id="14" name="Shape 12"/>
          <p:cNvSpPr/>
          <p:nvPr/>
        </p:nvSpPr>
        <p:spPr>
          <a:xfrm>
            <a:off x="488275" y="3005257"/>
            <a:ext cx="13653849" cy="733782"/>
          </a:xfrm>
          <a:prstGeom prst="roundRect">
            <a:avLst>
              <a:gd name="adj" fmla="val 6988"/>
            </a:avLst>
          </a:prstGeom>
          <a:solidFill>
            <a:srgbClr val="000018">
              <a:alpha val="95000"/>
            </a:srgbClr>
          </a:solidFill>
          <a:ln w="15240">
            <a:solidFill>
              <a:srgbClr val="313E80"/>
            </a:solidFill>
            <a:prstDash val="solid"/>
          </a:ln>
        </p:spPr>
      </p:sp>
      <p:sp>
        <p:nvSpPr>
          <p:cNvPr id="15" name="Shape 13"/>
          <p:cNvSpPr/>
          <p:nvPr/>
        </p:nvSpPr>
        <p:spPr>
          <a:xfrm>
            <a:off x="503515" y="3020497"/>
            <a:ext cx="488275" cy="703302"/>
          </a:xfrm>
          <a:prstGeom prst="roundRect">
            <a:avLst>
              <a:gd name="adj" fmla="val 6756"/>
            </a:avLst>
          </a:prstGeom>
          <a:solidFill>
            <a:srgbClr val="182567"/>
          </a:solidFill>
          <a:ln/>
        </p:spPr>
      </p:sp>
      <p:sp>
        <p:nvSpPr>
          <p:cNvPr id="16" name="Text 14"/>
          <p:cNvSpPr/>
          <p:nvPr/>
        </p:nvSpPr>
        <p:spPr>
          <a:xfrm>
            <a:off x="652224" y="3257669"/>
            <a:ext cx="183118" cy="228838"/>
          </a:xfrm>
          <a:prstGeom prst="rect">
            <a:avLst/>
          </a:prstGeom>
          <a:noFill/>
          <a:ln/>
        </p:spPr>
        <p:txBody>
          <a:bodyPr wrap="none" lIns="0" tIns="0" rIns="0" bIns="0" rtlCol="0" anchor="t"/>
          <a:lstStyle/>
          <a:p>
            <a:pPr marL="0" indent="0" algn="l">
              <a:lnSpc>
                <a:spcPts val="1400"/>
              </a:lnSpc>
              <a:buNone/>
            </a:pPr>
            <a:r>
              <a:rPr lang="en-US" sz="1400" dirty="0">
                <a:solidFill>
                  <a:srgbClr val="CFD0D8"/>
                </a:solidFill>
                <a:latin typeface="Roboto Medium" pitchFamily="34" charset="0"/>
                <a:ea typeface="Roboto Medium" pitchFamily="34" charset="-122"/>
                <a:cs typeface="Roboto Medium" pitchFamily="34" charset="-120"/>
              </a:rPr>
              <a:t>3</a:t>
            </a:r>
            <a:endParaRPr lang="en-US" sz="1400" dirty="0"/>
          </a:p>
        </p:txBody>
      </p:sp>
      <p:sp>
        <p:nvSpPr>
          <p:cNvPr id="17" name="Text 15"/>
          <p:cNvSpPr/>
          <p:nvPr/>
        </p:nvSpPr>
        <p:spPr>
          <a:xfrm>
            <a:off x="1113830" y="3142536"/>
            <a:ext cx="1525905" cy="190738"/>
          </a:xfrm>
          <a:prstGeom prst="rect">
            <a:avLst/>
          </a:prstGeom>
          <a:noFill/>
          <a:ln/>
        </p:spPr>
        <p:txBody>
          <a:bodyPr wrap="none" lIns="0" tIns="0" rIns="0" bIns="0" rtlCol="0" anchor="t"/>
          <a:lstStyle/>
          <a:p>
            <a:pPr marL="0" indent="0" algn="l">
              <a:lnSpc>
                <a:spcPts val="1500"/>
              </a:lnSpc>
              <a:buNone/>
            </a:pPr>
            <a:r>
              <a:rPr lang="en-US" sz="1200" dirty="0">
                <a:solidFill>
                  <a:srgbClr val="CFD0D8"/>
                </a:solidFill>
                <a:latin typeface="Roboto Medium" pitchFamily="34" charset="0"/>
                <a:ea typeface="Roboto Medium" pitchFamily="34" charset="-122"/>
                <a:cs typeface="Roboto Medium" pitchFamily="34" charset="-120"/>
              </a:rPr>
              <a:t>Affection</a:t>
            </a:r>
            <a:endParaRPr lang="en-US" sz="1200" dirty="0"/>
          </a:p>
        </p:txBody>
      </p:sp>
      <p:sp>
        <p:nvSpPr>
          <p:cNvPr id="18" name="Text 16"/>
          <p:cNvSpPr/>
          <p:nvPr/>
        </p:nvSpPr>
        <p:spPr>
          <a:xfrm>
            <a:off x="1113830" y="3406497"/>
            <a:ext cx="12891016" cy="195262"/>
          </a:xfrm>
          <a:prstGeom prst="rect">
            <a:avLst/>
          </a:prstGeom>
          <a:noFill/>
          <a:ln/>
        </p:spPr>
        <p:txBody>
          <a:bodyPr wrap="none" lIns="0" tIns="0" rIns="0" bIns="0" rtlCol="0" anchor="t"/>
          <a:lstStyle/>
          <a:p>
            <a:pPr marL="0" indent="0" algn="l">
              <a:lnSpc>
                <a:spcPts val="1500"/>
              </a:lnSpc>
              <a:buNone/>
            </a:pPr>
            <a:r>
              <a:rPr lang="en-US" sz="950" dirty="0">
                <a:solidFill>
                  <a:srgbClr val="CFD0D8"/>
                </a:solidFill>
                <a:latin typeface="Roboto" pitchFamily="34" charset="0"/>
                <a:ea typeface="Roboto" pitchFamily="34" charset="-122"/>
                <a:cs typeface="Roboto" pitchFamily="34" charset="-120"/>
              </a:rPr>
              <a:t>Genuine warmth and emotional closeness in the relationship</a:t>
            </a:r>
            <a:endParaRPr lang="en-US" sz="950" dirty="0"/>
          </a:p>
        </p:txBody>
      </p:sp>
      <p:sp>
        <p:nvSpPr>
          <p:cNvPr id="19" name="Shape 17"/>
          <p:cNvSpPr/>
          <p:nvPr/>
        </p:nvSpPr>
        <p:spPr>
          <a:xfrm>
            <a:off x="488275" y="3861078"/>
            <a:ext cx="13653849" cy="733782"/>
          </a:xfrm>
          <a:prstGeom prst="roundRect">
            <a:avLst>
              <a:gd name="adj" fmla="val 6988"/>
            </a:avLst>
          </a:prstGeom>
          <a:solidFill>
            <a:srgbClr val="000018">
              <a:alpha val="95000"/>
            </a:srgbClr>
          </a:solidFill>
          <a:ln w="15240">
            <a:solidFill>
              <a:srgbClr val="313E80"/>
            </a:solidFill>
            <a:prstDash val="solid"/>
          </a:ln>
        </p:spPr>
      </p:sp>
      <p:sp>
        <p:nvSpPr>
          <p:cNvPr id="20" name="Shape 18"/>
          <p:cNvSpPr/>
          <p:nvPr/>
        </p:nvSpPr>
        <p:spPr>
          <a:xfrm>
            <a:off x="503515" y="3876318"/>
            <a:ext cx="488275" cy="703302"/>
          </a:xfrm>
          <a:prstGeom prst="roundRect">
            <a:avLst>
              <a:gd name="adj" fmla="val 6756"/>
            </a:avLst>
          </a:prstGeom>
          <a:solidFill>
            <a:srgbClr val="182567"/>
          </a:solidFill>
          <a:ln/>
        </p:spPr>
      </p:sp>
      <p:sp>
        <p:nvSpPr>
          <p:cNvPr id="21" name="Text 19"/>
          <p:cNvSpPr/>
          <p:nvPr/>
        </p:nvSpPr>
        <p:spPr>
          <a:xfrm>
            <a:off x="652224" y="4113490"/>
            <a:ext cx="183118" cy="228838"/>
          </a:xfrm>
          <a:prstGeom prst="rect">
            <a:avLst/>
          </a:prstGeom>
          <a:noFill/>
          <a:ln/>
        </p:spPr>
        <p:txBody>
          <a:bodyPr wrap="none" lIns="0" tIns="0" rIns="0" bIns="0" rtlCol="0" anchor="t"/>
          <a:lstStyle/>
          <a:p>
            <a:pPr marL="0" indent="0" algn="l">
              <a:lnSpc>
                <a:spcPts val="1400"/>
              </a:lnSpc>
              <a:buNone/>
            </a:pPr>
            <a:r>
              <a:rPr lang="en-US" sz="1400" dirty="0">
                <a:solidFill>
                  <a:srgbClr val="CFD0D8"/>
                </a:solidFill>
                <a:latin typeface="Roboto Medium" pitchFamily="34" charset="0"/>
                <a:ea typeface="Roboto Medium" pitchFamily="34" charset="-122"/>
                <a:cs typeface="Roboto Medium" pitchFamily="34" charset="-120"/>
              </a:rPr>
              <a:t>4</a:t>
            </a:r>
            <a:endParaRPr lang="en-US" sz="1400" dirty="0"/>
          </a:p>
        </p:txBody>
      </p:sp>
      <p:sp>
        <p:nvSpPr>
          <p:cNvPr id="22" name="Text 20"/>
          <p:cNvSpPr/>
          <p:nvPr/>
        </p:nvSpPr>
        <p:spPr>
          <a:xfrm>
            <a:off x="1113830" y="3998357"/>
            <a:ext cx="1525905" cy="190738"/>
          </a:xfrm>
          <a:prstGeom prst="rect">
            <a:avLst/>
          </a:prstGeom>
          <a:noFill/>
          <a:ln/>
        </p:spPr>
        <p:txBody>
          <a:bodyPr wrap="none" lIns="0" tIns="0" rIns="0" bIns="0" rtlCol="0" anchor="t"/>
          <a:lstStyle/>
          <a:p>
            <a:pPr marL="0" indent="0" algn="l">
              <a:lnSpc>
                <a:spcPts val="1500"/>
              </a:lnSpc>
              <a:buNone/>
            </a:pPr>
            <a:r>
              <a:rPr lang="en-US" sz="1200" dirty="0">
                <a:solidFill>
                  <a:srgbClr val="CFD0D8"/>
                </a:solidFill>
                <a:latin typeface="Roboto Medium" pitchFamily="34" charset="0"/>
                <a:ea typeface="Roboto Medium" pitchFamily="34" charset="-122"/>
                <a:cs typeface="Roboto Medium" pitchFamily="34" charset="-120"/>
              </a:rPr>
              <a:t>Care</a:t>
            </a:r>
            <a:endParaRPr lang="en-US" sz="1200" dirty="0"/>
          </a:p>
        </p:txBody>
      </p:sp>
      <p:sp>
        <p:nvSpPr>
          <p:cNvPr id="23" name="Text 21"/>
          <p:cNvSpPr/>
          <p:nvPr/>
        </p:nvSpPr>
        <p:spPr>
          <a:xfrm>
            <a:off x="1113830" y="4262318"/>
            <a:ext cx="12891016" cy="195262"/>
          </a:xfrm>
          <a:prstGeom prst="rect">
            <a:avLst/>
          </a:prstGeom>
          <a:noFill/>
          <a:ln/>
        </p:spPr>
        <p:txBody>
          <a:bodyPr wrap="none" lIns="0" tIns="0" rIns="0" bIns="0" rtlCol="0" anchor="t"/>
          <a:lstStyle/>
          <a:p>
            <a:pPr marL="0" indent="0" algn="l">
              <a:lnSpc>
                <a:spcPts val="1500"/>
              </a:lnSpc>
              <a:buNone/>
            </a:pPr>
            <a:r>
              <a:rPr lang="en-US" sz="950" dirty="0">
                <a:solidFill>
                  <a:srgbClr val="CFD0D8"/>
                </a:solidFill>
                <a:latin typeface="Roboto" pitchFamily="34" charset="0"/>
                <a:ea typeface="Roboto" pitchFamily="34" charset="-122"/>
                <a:cs typeface="Roboto" pitchFamily="34" charset="-120"/>
              </a:rPr>
              <a:t>Active concern for the other's wellbeing and needs</a:t>
            </a:r>
            <a:endParaRPr lang="en-US" sz="950" dirty="0"/>
          </a:p>
        </p:txBody>
      </p:sp>
      <p:sp>
        <p:nvSpPr>
          <p:cNvPr id="24" name="Shape 22"/>
          <p:cNvSpPr/>
          <p:nvPr/>
        </p:nvSpPr>
        <p:spPr>
          <a:xfrm>
            <a:off x="488275" y="4716899"/>
            <a:ext cx="13653849" cy="733782"/>
          </a:xfrm>
          <a:prstGeom prst="roundRect">
            <a:avLst>
              <a:gd name="adj" fmla="val 6988"/>
            </a:avLst>
          </a:prstGeom>
          <a:solidFill>
            <a:srgbClr val="000018">
              <a:alpha val="95000"/>
            </a:srgbClr>
          </a:solidFill>
          <a:ln w="15240">
            <a:solidFill>
              <a:srgbClr val="313E80"/>
            </a:solidFill>
            <a:prstDash val="solid"/>
          </a:ln>
        </p:spPr>
      </p:sp>
      <p:sp>
        <p:nvSpPr>
          <p:cNvPr id="25" name="Shape 23"/>
          <p:cNvSpPr/>
          <p:nvPr/>
        </p:nvSpPr>
        <p:spPr>
          <a:xfrm>
            <a:off x="503515" y="4732139"/>
            <a:ext cx="488275" cy="703302"/>
          </a:xfrm>
          <a:prstGeom prst="roundRect">
            <a:avLst>
              <a:gd name="adj" fmla="val 6756"/>
            </a:avLst>
          </a:prstGeom>
          <a:solidFill>
            <a:srgbClr val="182567"/>
          </a:solidFill>
          <a:ln/>
        </p:spPr>
      </p:sp>
      <p:sp>
        <p:nvSpPr>
          <p:cNvPr id="26" name="Text 24"/>
          <p:cNvSpPr/>
          <p:nvPr/>
        </p:nvSpPr>
        <p:spPr>
          <a:xfrm>
            <a:off x="652224" y="4969312"/>
            <a:ext cx="183118" cy="228838"/>
          </a:xfrm>
          <a:prstGeom prst="rect">
            <a:avLst/>
          </a:prstGeom>
          <a:noFill/>
          <a:ln/>
        </p:spPr>
        <p:txBody>
          <a:bodyPr wrap="none" lIns="0" tIns="0" rIns="0" bIns="0" rtlCol="0" anchor="t"/>
          <a:lstStyle/>
          <a:p>
            <a:pPr marL="0" indent="0" algn="l">
              <a:lnSpc>
                <a:spcPts val="1400"/>
              </a:lnSpc>
              <a:buNone/>
            </a:pPr>
            <a:r>
              <a:rPr lang="en-US" sz="1400" dirty="0">
                <a:solidFill>
                  <a:srgbClr val="CFD0D8"/>
                </a:solidFill>
                <a:latin typeface="Roboto Medium" pitchFamily="34" charset="0"/>
                <a:ea typeface="Roboto Medium" pitchFamily="34" charset="-122"/>
                <a:cs typeface="Roboto Medium" pitchFamily="34" charset="-120"/>
              </a:rPr>
              <a:t>5</a:t>
            </a:r>
            <a:endParaRPr lang="en-US" sz="1400" dirty="0"/>
          </a:p>
        </p:txBody>
      </p:sp>
      <p:sp>
        <p:nvSpPr>
          <p:cNvPr id="27" name="Text 25"/>
          <p:cNvSpPr/>
          <p:nvPr/>
        </p:nvSpPr>
        <p:spPr>
          <a:xfrm>
            <a:off x="1113830" y="4854178"/>
            <a:ext cx="1525905" cy="190738"/>
          </a:xfrm>
          <a:prstGeom prst="rect">
            <a:avLst/>
          </a:prstGeom>
          <a:noFill/>
          <a:ln/>
        </p:spPr>
        <p:txBody>
          <a:bodyPr wrap="none" lIns="0" tIns="0" rIns="0" bIns="0" rtlCol="0" anchor="t"/>
          <a:lstStyle/>
          <a:p>
            <a:pPr marL="0" indent="0" algn="l">
              <a:lnSpc>
                <a:spcPts val="1500"/>
              </a:lnSpc>
              <a:buNone/>
            </a:pPr>
            <a:r>
              <a:rPr lang="en-US" sz="1200" dirty="0">
                <a:solidFill>
                  <a:srgbClr val="CFD0D8"/>
                </a:solidFill>
                <a:latin typeface="Roboto Medium" pitchFamily="34" charset="0"/>
                <a:ea typeface="Roboto Medium" pitchFamily="34" charset="-122"/>
                <a:cs typeface="Roboto Medium" pitchFamily="34" charset="-120"/>
              </a:rPr>
              <a:t>Guidance</a:t>
            </a:r>
            <a:endParaRPr lang="en-US" sz="1200" dirty="0"/>
          </a:p>
        </p:txBody>
      </p:sp>
      <p:sp>
        <p:nvSpPr>
          <p:cNvPr id="28" name="Text 26"/>
          <p:cNvSpPr/>
          <p:nvPr/>
        </p:nvSpPr>
        <p:spPr>
          <a:xfrm>
            <a:off x="1113830" y="5118140"/>
            <a:ext cx="12891016" cy="195262"/>
          </a:xfrm>
          <a:prstGeom prst="rect">
            <a:avLst/>
          </a:prstGeom>
          <a:noFill/>
          <a:ln/>
        </p:spPr>
        <p:txBody>
          <a:bodyPr wrap="none" lIns="0" tIns="0" rIns="0" bIns="0" rtlCol="0" anchor="t"/>
          <a:lstStyle/>
          <a:p>
            <a:pPr marL="0" indent="0" algn="l">
              <a:lnSpc>
                <a:spcPts val="1500"/>
              </a:lnSpc>
              <a:buNone/>
            </a:pPr>
            <a:r>
              <a:rPr lang="en-US" sz="950" dirty="0">
                <a:solidFill>
                  <a:srgbClr val="CFD0D8"/>
                </a:solidFill>
                <a:latin typeface="Roboto" pitchFamily="34" charset="0"/>
                <a:ea typeface="Roboto" pitchFamily="34" charset="-122"/>
                <a:cs typeface="Roboto" pitchFamily="34" charset="-120"/>
              </a:rPr>
              <a:t>Support and wisdom shared for mutual growth</a:t>
            </a:r>
            <a:endParaRPr lang="en-US" sz="950" dirty="0"/>
          </a:p>
        </p:txBody>
      </p:sp>
      <p:sp>
        <p:nvSpPr>
          <p:cNvPr id="29" name="Shape 27"/>
          <p:cNvSpPr/>
          <p:nvPr/>
        </p:nvSpPr>
        <p:spPr>
          <a:xfrm>
            <a:off x="488275" y="5587960"/>
            <a:ext cx="6765846" cy="1100018"/>
          </a:xfrm>
          <a:prstGeom prst="roundRect">
            <a:avLst>
              <a:gd name="adj" fmla="val 4661"/>
            </a:avLst>
          </a:prstGeom>
          <a:solidFill>
            <a:srgbClr val="000018">
              <a:alpha val="95000"/>
            </a:srgbClr>
          </a:solidFill>
          <a:ln w="15240">
            <a:solidFill>
              <a:srgbClr val="313E80"/>
            </a:solidFill>
            <a:prstDash val="solid"/>
          </a:ln>
        </p:spPr>
      </p:sp>
      <p:sp>
        <p:nvSpPr>
          <p:cNvPr id="30" name="Shape 28"/>
          <p:cNvSpPr/>
          <p:nvPr/>
        </p:nvSpPr>
        <p:spPr>
          <a:xfrm>
            <a:off x="503515" y="5603200"/>
            <a:ext cx="6735366" cy="366236"/>
          </a:xfrm>
          <a:prstGeom prst="roundRect">
            <a:avLst>
              <a:gd name="adj" fmla="val 9007"/>
            </a:avLst>
          </a:prstGeom>
          <a:solidFill>
            <a:srgbClr val="182567"/>
          </a:solidFill>
          <a:ln/>
        </p:spPr>
      </p:sp>
      <p:sp>
        <p:nvSpPr>
          <p:cNvPr id="31" name="Text 29"/>
          <p:cNvSpPr/>
          <p:nvPr/>
        </p:nvSpPr>
        <p:spPr>
          <a:xfrm>
            <a:off x="625554" y="6091476"/>
            <a:ext cx="1525905" cy="190738"/>
          </a:xfrm>
          <a:prstGeom prst="rect">
            <a:avLst/>
          </a:prstGeom>
          <a:noFill/>
          <a:ln/>
        </p:spPr>
        <p:txBody>
          <a:bodyPr wrap="none" lIns="0" tIns="0" rIns="0" bIns="0" rtlCol="0" anchor="t"/>
          <a:lstStyle/>
          <a:p>
            <a:pPr marL="0" indent="0" algn="l">
              <a:lnSpc>
                <a:spcPts val="1500"/>
              </a:lnSpc>
              <a:buNone/>
            </a:pPr>
            <a:r>
              <a:rPr lang="en-US" sz="1200" dirty="0">
                <a:solidFill>
                  <a:srgbClr val="CFD0D8"/>
                </a:solidFill>
                <a:latin typeface="Roboto Medium" pitchFamily="34" charset="0"/>
                <a:ea typeface="Roboto Medium" pitchFamily="34" charset="-122"/>
                <a:cs typeface="Roboto Medium" pitchFamily="34" charset="-120"/>
              </a:rPr>
              <a:t>Reverence</a:t>
            </a:r>
            <a:endParaRPr lang="en-US" sz="1200" dirty="0"/>
          </a:p>
        </p:txBody>
      </p:sp>
      <p:sp>
        <p:nvSpPr>
          <p:cNvPr id="32" name="Text 30"/>
          <p:cNvSpPr/>
          <p:nvPr/>
        </p:nvSpPr>
        <p:spPr>
          <a:xfrm>
            <a:off x="625554" y="6355437"/>
            <a:ext cx="6491288" cy="195262"/>
          </a:xfrm>
          <a:prstGeom prst="rect">
            <a:avLst/>
          </a:prstGeom>
          <a:noFill/>
          <a:ln/>
        </p:spPr>
        <p:txBody>
          <a:bodyPr wrap="none" lIns="0" tIns="0" rIns="0" bIns="0" rtlCol="0" anchor="t"/>
          <a:lstStyle/>
          <a:p>
            <a:pPr marL="0" indent="0" algn="l">
              <a:lnSpc>
                <a:spcPts val="1500"/>
              </a:lnSpc>
              <a:buNone/>
            </a:pPr>
            <a:r>
              <a:rPr lang="en-US" sz="950" dirty="0">
                <a:solidFill>
                  <a:srgbClr val="CFD0D8"/>
                </a:solidFill>
                <a:latin typeface="Roboto" pitchFamily="34" charset="0"/>
                <a:ea typeface="Roboto" pitchFamily="34" charset="-122"/>
                <a:cs typeface="Roboto" pitchFamily="34" charset="-120"/>
              </a:rPr>
              <a:t>Recognition of the other's inherent value and potential</a:t>
            </a:r>
            <a:endParaRPr lang="en-US" sz="950" dirty="0"/>
          </a:p>
        </p:txBody>
      </p:sp>
      <p:sp>
        <p:nvSpPr>
          <p:cNvPr id="33" name="Shape 31"/>
          <p:cNvSpPr/>
          <p:nvPr/>
        </p:nvSpPr>
        <p:spPr>
          <a:xfrm>
            <a:off x="7376160" y="5587960"/>
            <a:ext cx="6765965" cy="1100018"/>
          </a:xfrm>
          <a:prstGeom prst="roundRect">
            <a:avLst>
              <a:gd name="adj" fmla="val 4661"/>
            </a:avLst>
          </a:prstGeom>
          <a:solidFill>
            <a:srgbClr val="000018">
              <a:alpha val="95000"/>
            </a:srgbClr>
          </a:solidFill>
          <a:ln w="15240">
            <a:solidFill>
              <a:srgbClr val="313E80"/>
            </a:solidFill>
            <a:prstDash val="solid"/>
          </a:ln>
        </p:spPr>
      </p:sp>
      <p:sp>
        <p:nvSpPr>
          <p:cNvPr id="34" name="Shape 32"/>
          <p:cNvSpPr/>
          <p:nvPr/>
        </p:nvSpPr>
        <p:spPr>
          <a:xfrm>
            <a:off x="7391400" y="5603200"/>
            <a:ext cx="6735485" cy="366236"/>
          </a:xfrm>
          <a:prstGeom prst="roundRect">
            <a:avLst>
              <a:gd name="adj" fmla="val 9007"/>
            </a:avLst>
          </a:prstGeom>
          <a:solidFill>
            <a:srgbClr val="182567"/>
          </a:solidFill>
          <a:ln/>
        </p:spPr>
      </p:sp>
      <p:sp>
        <p:nvSpPr>
          <p:cNvPr id="35" name="Text 33"/>
          <p:cNvSpPr/>
          <p:nvPr/>
        </p:nvSpPr>
        <p:spPr>
          <a:xfrm>
            <a:off x="7513439" y="6091476"/>
            <a:ext cx="1525905" cy="190738"/>
          </a:xfrm>
          <a:prstGeom prst="rect">
            <a:avLst/>
          </a:prstGeom>
          <a:noFill/>
          <a:ln/>
        </p:spPr>
        <p:txBody>
          <a:bodyPr wrap="none" lIns="0" tIns="0" rIns="0" bIns="0" rtlCol="0" anchor="t"/>
          <a:lstStyle/>
          <a:p>
            <a:pPr marL="0" indent="0" algn="l">
              <a:lnSpc>
                <a:spcPts val="1500"/>
              </a:lnSpc>
              <a:buNone/>
            </a:pPr>
            <a:r>
              <a:rPr lang="en-US" sz="1200" dirty="0">
                <a:solidFill>
                  <a:srgbClr val="CFD0D8"/>
                </a:solidFill>
                <a:latin typeface="Roboto Medium" pitchFamily="34" charset="0"/>
                <a:ea typeface="Roboto Medium" pitchFamily="34" charset="-122"/>
                <a:cs typeface="Roboto Medium" pitchFamily="34" charset="-120"/>
              </a:rPr>
              <a:t>Glory</a:t>
            </a:r>
            <a:endParaRPr lang="en-US" sz="1200" dirty="0"/>
          </a:p>
        </p:txBody>
      </p:sp>
      <p:sp>
        <p:nvSpPr>
          <p:cNvPr id="36" name="Text 34"/>
          <p:cNvSpPr/>
          <p:nvPr/>
        </p:nvSpPr>
        <p:spPr>
          <a:xfrm>
            <a:off x="7513439" y="6355437"/>
            <a:ext cx="6491407" cy="195262"/>
          </a:xfrm>
          <a:prstGeom prst="rect">
            <a:avLst/>
          </a:prstGeom>
          <a:noFill/>
          <a:ln/>
        </p:spPr>
        <p:txBody>
          <a:bodyPr wrap="none" lIns="0" tIns="0" rIns="0" bIns="0" rtlCol="0" anchor="t"/>
          <a:lstStyle/>
          <a:p>
            <a:pPr marL="0" indent="0" algn="l">
              <a:lnSpc>
                <a:spcPts val="1500"/>
              </a:lnSpc>
              <a:buNone/>
            </a:pPr>
            <a:r>
              <a:rPr lang="en-US" sz="950" dirty="0">
                <a:solidFill>
                  <a:srgbClr val="CFD0D8"/>
                </a:solidFill>
                <a:latin typeface="Roboto" pitchFamily="34" charset="0"/>
                <a:ea typeface="Roboto" pitchFamily="34" charset="-122"/>
                <a:cs typeface="Roboto" pitchFamily="34" charset="-120"/>
              </a:rPr>
              <a:t>Celebrating the other's achievements and qualities</a:t>
            </a:r>
            <a:endParaRPr lang="en-US" sz="950" dirty="0"/>
          </a:p>
        </p:txBody>
      </p:sp>
      <p:sp>
        <p:nvSpPr>
          <p:cNvPr id="37" name="Shape 35"/>
          <p:cNvSpPr/>
          <p:nvPr/>
        </p:nvSpPr>
        <p:spPr>
          <a:xfrm>
            <a:off x="42695" y="6810018"/>
            <a:ext cx="7254121" cy="1345406"/>
          </a:xfrm>
          <a:prstGeom prst="roundRect">
            <a:avLst>
              <a:gd name="adj" fmla="val 4661"/>
            </a:avLst>
          </a:prstGeom>
          <a:solidFill>
            <a:srgbClr val="000018">
              <a:alpha val="95000"/>
            </a:srgbClr>
          </a:solidFill>
          <a:ln w="15240">
            <a:solidFill>
              <a:srgbClr val="313E80"/>
            </a:solidFill>
            <a:prstDash val="solid"/>
          </a:ln>
        </p:spPr>
      </p:sp>
      <p:sp>
        <p:nvSpPr>
          <p:cNvPr id="38" name="Shape 36"/>
          <p:cNvSpPr/>
          <p:nvPr/>
        </p:nvSpPr>
        <p:spPr>
          <a:xfrm>
            <a:off x="42695" y="6810018"/>
            <a:ext cx="7238881" cy="366236"/>
          </a:xfrm>
          <a:prstGeom prst="roundRect">
            <a:avLst>
              <a:gd name="adj" fmla="val 9007"/>
            </a:avLst>
          </a:prstGeom>
          <a:solidFill>
            <a:srgbClr val="182567"/>
          </a:solidFill>
          <a:ln/>
        </p:spPr>
      </p:sp>
      <p:sp>
        <p:nvSpPr>
          <p:cNvPr id="39" name="Text 37"/>
          <p:cNvSpPr/>
          <p:nvPr/>
        </p:nvSpPr>
        <p:spPr>
          <a:xfrm>
            <a:off x="625554" y="7313533"/>
            <a:ext cx="1525905" cy="190738"/>
          </a:xfrm>
          <a:prstGeom prst="rect">
            <a:avLst/>
          </a:prstGeom>
          <a:noFill/>
          <a:ln/>
        </p:spPr>
        <p:txBody>
          <a:bodyPr wrap="none" lIns="0" tIns="0" rIns="0" bIns="0" rtlCol="0" anchor="t"/>
          <a:lstStyle/>
          <a:p>
            <a:pPr marL="0" indent="0" algn="l">
              <a:lnSpc>
                <a:spcPts val="1500"/>
              </a:lnSpc>
              <a:buNone/>
            </a:pPr>
            <a:r>
              <a:rPr lang="en-US" sz="1200" dirty="0">
                <a:solidFill>
                  <a:srgbClr val="CFD0D8"/>
                </a:solidFill>
                <a:latin typeface="Roboto Medium" pitchFamily="34" charset="0"/>
                <a:ea typeface="Roboto Medium" pitchFamily="34" charset="-122"/>
                <a:cs typeface="Roboto Medium" pitchFamily="34" charset="-120"/>
              </a:rPr>
              <a:t>Gratitude</a:t>
            </a:r>
            <a:endParaRPr lang="en-US" sz="1200" dirty="0"/>
          </a:p>
        </p:txBody>
      </p:sp>
      <p:sp>
        <p:nvSpPr>
          <p:cNvPr id="40" name="Text 38"/>
          <p:cNvSpPr/>
          <p:nvPr/>
        </p:nvSpPr>
        <p:spPr>
          <a:xfrm>
            <a:off x="625554" y="7577495"/>
            <a:ext cx="6491288" cy="195262"/>
          </a:xfrm>
          <a:prstGeom prst="rect">
            <a:avLst/>
          </a:prstGeom>
          <a:noFill/>
          <a:ln/>
        </p:spPr>
        <p:txBody>
          <a:bodyPr wrap="none" lIns="0" tIns="0" rIns="0" bIns="0" rtlCol="0" anchor="t"/>
          <a:lstStyle/>
          <a:p>
            <a:pPr marL="0" indent="0" algn="l">
              <a:lnSpc>
                <a:spcPts val="1500"/>
              </a:lnSpc>
              <a:buNone/>
            </a:pPr>
            <a:r>
              <a:rPr lang="en-US" sz="950" dirty="0">
                <a:solidFill>
                  <a:srgbClr val="CFD0D8"/>
                </a:solidFill>
                <a:latin typeface="Roboto" pitchFamily="34" charset="0"/>
                <a:ea typeface="Roboto" pitchFamily="34" charset="-122"/>
                <a:cs typeface="Roboto" pitchFamily="34" charset="-120"/>
              </a:rPr>
              <a:t>Appreciation for what the other brings to our lives</a:t>
            </a:r>
            <a:endParaRPr lang="en-US" sz="950" dirty="0"/>
          </a:p>
        </p:txBody>
      </p:sp>
      <p:sp>
        <p:nvSpPr>
          <p:cNvPr id="41" name="Shape 39"/>
          <p:cNvSpPr/>
          <p:nvPr/>
        </p:nvSpPr>
        <p:spPr>
          <a:xfrm>
            <a:off x="7376160" y="6810018"/>
            <a:ext cx="7254240" cy="1345406"/>
          </a:xfrm>
          <a:prstGeom prst="roundRect">
            <a:avLst>
              <a:gd name="adj" fmla="val 4661"/>
            </a:avLst>
          </a:prstGeom>
          <a:solidFill>
            <a:srgbClr val="000018">
              <a:alpha val="95000"/>
            </a:srgbClr>
          </a:solidFill>
          <a:ln w="15240">
            <a:solidFill>
              <a:srgbClr val="313E80"/>
            </a:solidFill>
            <a:prstDash val="solid"/>
          </a:ln>
        </p:spPr>
      </p:sp>
      <p:sp>
        <p:nvSpPr>
          <p:cNvPr id="42" name="Shape 40"/>
          <p:cNvSpPr/>
          <p:nvPr/>
        </p:nvSpPr>
        <p:spPr>
          <a:xfrm>
            <a:off x="7391400" y="6825258"/>
            <a:ext cx="7239000" cy="366236"/>
          </a:xfrm>
          <a:prstGeom prst="roundRect">
            <a:avLst>
              <a:gd name="adj" fmla="val 9007"/>
            </a:avLst>
          </a:prstGeom>
          <a:solidFill>
            <a:srgbClr val="182567"/>
          </a:solidFill>
          <a:ln/>
        </p:spPr>
      </p:sp>
      <p:sp>
        <p:nvSpPr>
          <p:cNvPr id="43" name="Text 41"/>
          <p:cNvSpPr/>
          <p:nvPr/>
        </p:nvSpPr>
        <p:spPr>
          <a:xfrm>
            <a:off x="7513439" y="7313533"/>
            <a:ext cx="1525905" cy="190738"/>
          </a:xfrm>
          <a:prstGeom prst="rect">
            <a:avLst/>
          </a:prstGeom>
          <a:noFill/>
          <a:ln/>
        </p:spPr>
        <p:txBody>
          <a:bodyPr wrap="none" lIns="0" tIns="0" rIns="0" bIns="0" rtlCol="0" anchor="t"/>
          <a:lstStyle/>
          <a:p>
            <a:pPr marL="0" indent="0" algn="l">
              <a:lnSpc>
                <a:spcPts val="1500"/>
              </a:lnSpc>
              <a:buNone/>
            </a:pPr>
            <a:r>
              <a:rPr lang="en-US" sz="1200" dirty="0">
                <a:solidFill>
                  <a:srgbClr val="CFD0D8"/>
                </a:solidFill>
                <a:latin typeface="Roboto Medium" pitchFamily="34" charset="0"/>
                <a:ea typeface="Roboto Medium" pitchFamily="34" charset="-122"/>
                <a:cs typeface="Roboto Medium" pitchFamily="34" charset="-120"/>
              </a:rPr>
              <a:t>Love</a:t>
            </a:r>
            <a:endParaRPr lang="en-US" sz="1200" dirty="0"/>
          </a:p>
        </p:txBody>
      </p:sp>
      <p:sp>
        <p:nvSpPr>
          <p:cNvPr id="44" name="Text 42"/>
          <p:cNvSpPr/>
          <p:nvPr/>
        </p:nvSpPr>
        <p:spPr>
          <a:xfrm>
            <a:off x="7513439" y="7577495"/>
            <a:ext cx="6491407" cy="195262"/>
          </a:xfrm>
          <a:prstGeom prst="rect">
            <a:avLst/>
          </a:prstGeom>
          <a:noFill/>
          <a:ln/>
        </p:spPr>
        <p:txBody>
          <a:bodyPr wrap="none" lIns="0" tIns="0" rIns="0" bIns="0" rtlCol="0" anchor="t"/>
          <a:lstStyle/>
          <a:p>
            <a:pPr marL="0" indent="0" algn="l">
              <a:lnSpc>
                <a:spcPts val="1500"/>
              </a:lnSpc>
              <a:buNone/>
            </a:pPr>
            <a:r>
              <a:rPr lang="en-US" sz="950" dirty="0">
                <a:solidFill>
                  <a:srgbClr val="CFD0D8"/>
                </a:solidFill>
                <a:latin typeface="Roboto" pitchFamily="34" charset="0"/>
                <a:ea typeface="Roboto" pitchFamily="34" charset="-122"/>
                <a:cs typeface="Roboto" pitchFamily="34" charset="-120"/>
              </a:rPr>
              <a:t>The integrative force that binds all other values together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771174"/>
            <a:ext cx="12772311" cy="620078"/>
          </a:xfrm>
          <a:prstGeom prst="rect">
            <a:avLst/>
          </a:prstGeom>
          <a:noFill/>
          <a:ln/>
        </p:spPr>
        <p:txBody>
          <a:bodyPr wrap="none" lIns="0" tIns="0" rIns="0" bIns="0" rtlCol="0" anchor="t"/>
          <a:lstStyle/>
          <a:p>
            <a:pPr marL="0" indent="0" algn="l">
              <a:lnSpc>
                <a:spcPts val="4850"/>
              </a:lnSpc>
              <a:buNone/>
            </a:pPr>
            <a:r>
              <a:rPr lang="en-US" sz="3900" dirty="0">
                <a:solidFill>
                  <a:srgbClr val="FFFFFF"/>
                </a:solidFill>
                <a:latin typeface="Roboto Medium" pitchFamily="34" charset="0"/>
                <a:ea typeface="Roboto Medium" pitchFamily="34" charset="-122"/>
                <a:cs typeface="Roboto Medium" pitchFamily="34" charset="-120"/>
              </a:rPr>
              <a:t>Trust: The Distinction Between Intention and Competence</a:t>
            </a:r>
            <a:endParaRPr lang="en-US" sz="3900" dirty="0"/>
          </a:p>
        </p:txBody>
      </p:sp>
      <p:sp>
        <p:nvSpPr>
          <p:cNvPr id="3" name="Text 1"/>
          <p:cNvSpPr/>
          <p:nvPr/>
        </p:nvSpPr>
        <p:spPr>
          <a:xfrm>
            <a:off x="793790" y="2788087"/>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CFD0D8"/>
                </a:solidFill>
                <a:latin typeface="Roboto" pitchFamily="34" charset="0"/>
                <a:ea typeface="Roboto" pitchFamily="34" charset="-122"/>
                <a:cs typeface="Roboto" pitchFamily="34" charset="-120"/>
              </a:rPr>
              <a:t>Trust</a:t>
            </a:r>
            <a:r>
              <a:rPr lang="en-US" sz="1550" dirty="0">
                <a:solidFill>
                  <a:srgbClr val="CFD0D8"/>
                </a:solidFill>
                <a:latin typeface="Roboto" pitchFamily="34" charset="0"/>
                <a:ea typeface="Roboto" pitchFamily="34" charset="-122"/>
                <a:cs typeface="Roboto" pitchFamily="34" charset="-120"/>
              </a:rPr>
              <a:t> is fundamentally about assurance in the other's intention to make us happy and prosperous. It is the belief that the other person genuinely wants our wellbeing. This is distinct from </a:t>
            </a:r>
            <a:r>
              <a:rPr lang="en-US" sz="1550" b="1" dirty="0">
                <a:solidFill>
                  <a:srgbClr val="CFD0D8"/>
                </a:solidFill>
                <a:latin typeface="Roboto" pitchFamily="34" charset="0"/>
                <a:ea typeface="Roboto" pitchFamily="34" charset="-122"/>
                <a:cs typeface="Roboto" pitchFamily="34" charset="-120"/>
              </a:rPr>
              <a:t>competence</a:t>
            </a:r>
            <a:r>
              <a:rPr lang="en-US" sz="1550" dirty="0">
                <a:solidFill>
                  <a:srgbClr val="CFD0D8"/>
                </a:solidFill>
                <a:latin typeface="Roboto" pitchFamily="34" charset="0"/>
                <a:ea typeface="Roboto" pitchFamily="34" charset="-122"/>
                <a:cs typeface="Roboto" pitchFamily="34" charset="-120"/>
              </a:rPr>
              <a:t>—the ability to effectively fulfill that intention.</a:t>
            </a:r>
            <a:endParaRPr lang="en-US" sz="1550" dirty="0"/>
          </a:p>
        </p:txBody>
      </p:sp>
      <p:sp>
        <p:nvSpPr>
          <p:cNvPr id="4" name="Text 2"/>
          <p:cNvSpPr/>
          <p:nvPr/>
        </p:nvSpPr>
        <p:spPr>
          <a:xfrm>
            <a:off x="793790" y="3646408"/>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A person may have perfect intentions but lack the skills or resources to help. In such cases, </a:t>
            </a:r>
            <a:r>
              <a:rPr lang="en-US" sz="1550" b="1" dirty="0">
                <a:solidFill>
                  <a:srgbClr val="CFD0D8"/>
                </a:solidFill>
                <a:latin typeface="Roboto" pitchFamily="34" charset="0"/>
                <a:ea typeface="Roboto" pitchFamily="34" charset="-122"/>
                <a:cs typeface="Roboto" pitchFamily="34" charset="-120"/>
              </a:rPr>
              <a:t>responsibility and support</a:t>
            </a:r>
            <a:r>
              <a:rPr lang="en-US" sz="1550" dirty="0">
                <a:solidFill>
                  <a:srgbClr val="CFD0D8"/>
                </a:solidFill>
                <a:latin typeface="Roboto" pitchFamily="34" charset="0"/>
                <a:ea typeface="Roboto" pitchFamily="34" charset="-122"/>
                <a:cs typeface="Roboto" pitchFamily="34" charset="-120"/>
              </a:rPr>
              <a:t> maintain harmony. We work together to build competence. However, when </a:t>
            </a:r>
            <a:r>
              <a:rPr lang="en-US" sz="1550" b="1" dirty="0">
                <a:solidFill>
                  <a:srgbClr val="CFD0D8"/>
                </a:solidFill>
                <a:latin typeface="Roboto" pitchFamily="34" charset="0"/>
                <a:ea typeface="Roboto" pitchFamily="34" charset="-122"/>
                <a:cs typeface="Roboto" pitchFamily="34" charset="-120"/>
              </a:rPr>
              <a:t>trust in intention is lacking</a:t>
            </a:r>
            <a:r>
              <a:rPr lang="en-US" sz="1550" dirty="0">
                <a:solidFill>
                  <a:srgbClr val="CFD0D8"/>
                </a:solidFill>
                <a:latin typeface="Roboto" pitchFamily="34" charset="0"/>
                <a:ea typeface="Roboto" pitchFamily="34" charset="-122"/>
                <a:cs typeface="Roboto" pitchFamily="34" charset="-120"/>
              </a:rPr>
              <a:t>, the relationship deteriorates rapidly, leading to opposition, irritation, and conflict—no matter how competent the person may be.</a:t>
            </a:r>
            <a:endParaRPr lang="en-US" sz="1550" dirty="0"/>
          </a:p>
        </p:txBody>
      </p:sp>
      <p:sp>
        <p:nvSpPr>
          <p:cNvPr id="5" name="Shape 3"/>
          <p:cNvSpPr/>
          <p:nvPr/>
        </p:nvSpPr>
        <p:spPr>
          <a:xfrm>
            <a:off x="793790" y="4822269"/>
            <a:ext cx="13042821" cy="1158716"/>
          </a:xfrm>
          <a:prstGeom prst="roundRect">
            <a:avLst>
              <a:gd name="adj" fmla="val 7194"/>
            </a:avLst>
          </a:prstGeom>
          <a:solidFill>
            <a:srgbClr val="182567"/>
          </a:solidFill>
          <a:ln w="7620">
            <a:solidFill>
              <a:srgbClr val="313E80"/>
            </a:solidFill>
            <a:prstDash val="solid"/>
          </a:ln>
        </p:spPr>
      </p:sp>
      <p:sp>
        <p:nvSpPr>
          <p:cNvPr id="6" name="Shape 4"/>
          <p:cNvSpPr/>
          <p:nvPr/>
        </p:nvSpPr>
        <p:spPr>
          <a:xfrm>
            <a:off x="801410" y="4829889"/>
            <a:ext cx="4342448" cy="1143476"/>
          </a:xfrm>
          <a:prstGeom prst="roundRect">
            <a:avLst>
              <a:gd name="adj" fmla="val 7290"/>
            </a:avLst>
          </a:prstGeom>
          <a:solidFill>
            <a:srgbClr val="182567"/>
          </a:solidFill>
          <a:ln/>
        </p:spPr>
      </p:sp>
      <p:sp>
        <p:nvSpPr>
          <p:cNvPr id="7" name="Text 5"/>
          <p:cNvSpPr/>
          <p:nvPr/>
        </p:nvSpPr>
        <p:spPr>
          <a:xfrm>
            <a:off x="999768" y="502824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Roboto Medium" pitchFamily="34" charset="0"/>
                <a:ea typeface="Roboto Medium" pitchFamily="34" charset="-122"/>
                <a:cs typeface="Roboto Medium" pitchFamily="34" charset="-120"/>
              </a:rPr>
              <a:t>Intention Present</a:t>
            </a:r>
            <a:endParaRPr lang="en-US" sz="1950" dirty="0"/>
          </a:p>
        </p:txBody>
      </p:sp>
      <p:sp>
        <p:nvSpPr>
          <p:cNvPr id="8" name="Text 6"/>
          <p:cNvSpPr/>
          <p:nvPr/>
        </p:nvSpPr>
        <p:spPr>
          <a:xfrm>
            <a:off x="999768" y="5457468"/>
            <a:ext cx="3945731" cy="317540"/>
          </a:xfrm>
          <a:prstGeom prst="rect">
            <a:avLst/>
          </a:prstGeom>
          <a:noFill/>
          <a:ln/>
        </p:spPr>
        <p:txBody>
          <a:bodyPr wrap="non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Desire for other's happiness</a:t>
            </a:r>
            <a:endParaRPr lang="en-US" sz="1550" dirty="0"/>
          </a:p>
        </p:txBody>
      </p:sp>
      <p:sp>
        <p:nvSpPr>
          <p:cNvPr id="9" name="Shape 7"/>
          <p:cNvSpPr/>
          <p:nvPr/>
        </p:nvSpPr>
        <p:spPr>
          <a:xfrm>
            <a:off x="5143857" y="4829889"/>
            <a:ext cx="4342567" cy="1143476"/>
          </a:xfrm>
          <a:prstGeom prst="rect">
            <a:avLst/>
          </a:prstGeom>
          <a:solidFill>
            <a:srgbClr val="182567"/>
          </a:solidFill>
          <a:ln/>
        </p:spPr>
      </p:sp>
      <p:sp>
        <p:nvSpPr>
          <p:cNvPr id="10" name="Shape 8"/>
          <p:cNvSpPr/>
          <p:nvPr/>
        </p:nvSpPr>
        <p:spPr>
          <a:xfrm>
            <a:off x="5143857" y="4829889"/>
            <a:ext cx="22860" cy="1143476"/>
          </a:xfrm>
          <a:prstGeom prst="roundRect">
            <a:avLst>
              <a:gd name="adj" fmla="val 364651"/>
            </a:avLst>
          </a:prstGeom>
          <a:solidFill>
            <a:srgbClr val="313E80"/>
          </a:solidFill>
          <a:ln/>
        </p:spPr>
      </p:sp>
      <p:sp>
        <p:nvSpPr>
          <p:cNvPr id="11" name="Text 9"/>
          <p:cNvSpPr/>
          <p:nvPr/>
        </p:nvSpPr>
        <p:spPr>
          <a:xfrm>
            <a:off x="5342215" y="502824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Roboto Medium" pitchFamily="34" charset="0"/>
                <a:ea typeface="Roboto Medium" pitchFamily="34" charset="-122"/>
                <a:cs typeface="Roboto Medium" pitchFamily="34" charset="-120"/>
              </a:rPr>
              <a:t>+ Competence</a:t>
            </a:r>
            <a:endParaRPr lang="en-US" sz="1950" dirty="0"/>
          </a:p>
        </p:txBody>
      </p:sp>
      <p:sp>
        <p:nvSpPr>
          <p:cNvPr id="12" name="Text 10"/>
          <p:cNvSpPr/>
          <p:nvPr/>
        </p:nvSpPr>
        <p:spPr>
          <a:xfrm>
            <a:off x="5342215" y="5457468"/>
            <a:ext cx="3945850" cy="317540"/>
          </a:xfrm>
          <a:prstGeom prst="rect">
            <a:avLst/>
          </a:prstGeom>
          <a:noFill/>
          <a:ln/>
        </p:spPr>
        <p:txBody>
          <a:bodyPr wrap="non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Ability to fulfill</a:t>
            </a:r>
            <a:endParaRPr lang="en-US" sz="1550" dirty="0"/>
          </a:p>
        </p:txBody>
      </p:sp>
      <p:sp>
        <p:nvSpPr>
          <p:cNvPr id="13" name="Shape 11"/>
          <p:cNvSpPr/>
          <p:nvPr/>
        </p:nvSpPr>
        <p:spPr>
          <a:xfrm>
            <a:off x="9486424" y="4829889"/>
            <a:ext cx="4342567" cy="1143476"/>
          </a:xfrm>
          <a:prstGeom prst="rect">
            <a:avLst/>
          </a:prstGeom>
          <a:solidFill>
            <a:srgbClr val="182567"/>
          </a:solidFill>
          <a:ln/>
        </p:spPr>
      </p:sp>
      <p:sp>
        <p:nvSpPr>
          <p:cNvPr id="14" name="Shape 12"/>
          <p:cNvSpPr/>
          <p:nvPr/>
        </p:nvSpPr>
        <p:spPr>
          <a:xfrm>
            <a:off x="9486424" y="4829889"/>
            <a:ext cx="22860" cy="1143476"/>
          </a:xfrm>
          <a:prstGeom prst="roundRect">
            <a:avLst>
              <a:gd name="adj" fmla="val 364651"/>
            </a:avLst>
          </a:prstGeom>
          <a:solidFill>
            <a:srgbClr val="313E80"/>
          </a:solidFill>
          <a:ln/>
        </p:spPr>
      </p:sp>
      <p:sp>
        <p:nvSpPr>
          <p:cNvPr id="15" name="Text 13"/>
          <p:cNvSpPr/>
          <p:nvPr/>
        </p:nvSpPr>
        <p:spPr>
          <a:xfrm>
            <a:off x="9684782" y="502824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Roboto Medium" pitchFamily="34" charset="0"/>
                <a:ea typeface="Roboto Medium" pitchFamily="34" charset="-122"/>
                <a:cs typeface="Roboto Medium" pitchFamily="34" charset="-120"/>
              </a:rPr>
              <a:t>= Trust &amp; Harmony</a:t>
            </a:r>
            <a:endParaRPr lang="en-US" sz="1950" dirty="0"/>
          </a:p>
        </p:txBody>
      </p:sp>
      <p:sp>
        <p:nvSpPr>
          <p:cNvPr id="16" name="Text 14"/>
          <p:cNvSpPr/>
          <p:nvPr/>
        </p:nvSpPr>
        <p:spPr>
          <a:xfrm>
            <a:off x="9684782" y="5457468"/>
            <a:ext cx="3945850" cy="317540"/>
          </a:xfrm>
          <a:prstGeom prst="rect">
            <a:avLst/>
          </a:prstGeom>
          <a:noFill/>
          <a:ln/>
        </p:spPr>
        <p:txBody>
          <a:bodyPr wrap="non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Mutual happiness</a:t>
            </a:r>
            <a:endParaRPr lang="en-US" sz="1550" dirty="0"/>
          </a:p>
        </p:txBody>
      </p:sp>
      <p:sp>
        <p:nvSpPr>
          <p:cNvPr id="17" name="Text 15"/>
          <p:cNvSpPr/>
          <p:nvPr/>
        </p:nvSpPr>
        <p:spPr>
          <a:xfrm>
            <a:off x="793790" y="6204228"/>
            <a:ext cx="13042821" cy="254079"/>
          </a:xfrm>
          <a:prstGeom prst="rect">
            <a:avLst/>
          </a:prstGeom>
          <a:noFill/>
          <a:ln/>
        </p:spPr>
        <p:txBody>
          <a:bodyPr wrap="none" lIns="0" tIns="0" rIns="0" bIns="0" rtlCol="0" anchor="t"/>
          <a:lstStyle/>
          <a:p>
            <a:pPr marL="0" indent="0" algn="l">
              <a:lnSpc>
                <a:spcPts val="2000"/>
              </a:lnSpc>
              <a:buNone/>
            </a:pPr>
            <a:r>
              <a:rPr lang="en-US" sz="1250" b="1" dirty="0">
                <a:solidFill>
                  <a:srgbClr val="5A6ED8"/>
                </a:solidFill>
                <a:latin typeface="Roboto" pitchFamily="34" charset="0"/>
                <a:ea typeface="Roboto" pitchFamily="34" charset="-122"/>
                <a:cs typeface="Roboto" pitchFamily="34" charset="-120"/>
              </a:rPr>
              <a:t>Key insight:</a:t>
            </a:r>
            <a:r>
              <a:rPr lang="en-US" sz="1250" dirty="0">
                <a:solidFill>
                  <a:srgbClr val="CFD0D8"/>
                </a:solidFill>
                <a:latin typeface="Roboto" pitchFamily="34" charset="0"/>
                <a:ea typeface="Roboto" pitchFamily="34" charset="-122"/>
                <a:cs typeface="Roboto" pitchFamily="34" charset="-120"/>
              </a:rPr>
              <a:t> When intention alone is present but competence is lacking, we build it together through support. When intention is absent, no competence can restore trust.</a:t>
            </a:r>
            <a:endParaRPr lang="en-US" sz="1250" dirty="0"/>
          </a:p>
        </p:txBody>
      </p:sp>
      <p:pic>
        <p:nvPicPr>
          <p:cNvPr id="18" name="Picture 17"/>
          <p:cNvPicPr>
            <a:picLocks noChangeAspect="1"/>
          </p:cNvPicPr>
          <p:nvPr/>
        </p:nvPicPr>
        <p:blipFill>
          <a:blip r:embed="rId3"/>
          <a:stretch>
            <a:fillRect/>
          </a:stretch>
        </p:blipFill>
        <p:spPr>
          <a:xfrm>
            <a:off x="11058026" y="7715178"/>
            <a:ext cx="3572374" cy="5144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146929"/>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FFFFFF"/>
                </a:solidFill>
                <a:latin typeface="Roboto Medium" pitchFamily="34" charset="0"/>
                <a:ea typeface="Roboto Medium" pitchFamily="34" charset="-122"/>
                <a:cs typeface="Roboto Medium" pitchFamily="34" charset="-120"/>
              </a:rPr>
              <a:t>Respect vs Differentiation: The Foundation of Social Harmony</a:t>
            </a:r>
            <a:endParaRPr lang="en-US" sz="3900" dirty="0"/>
          </a:p>
        </p:txBody>
      </p:sp>
      <p:sp>
        <p:nvSpPr>
          <p:cNvPr id="3" name="Text 1"/>
          <p:cNvSpPr/>
          <p:nvPr/>
        </p:nvSpPr>
        <p:spPr>
          <a:xfrm>
            <a:off x="793790" y="288309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Roboto Medium" pitchFamily="34" charset="0"/>
                <a:ea typeface="Roboto Medium" pitchFamily="34" charset="-122"/>
                <a:cs typeface="Roboto Medium" pitchFamily="34" charset="-120"/>
              </a:rPr>
              <a:t>What is Respect?</a:t>
            </a:r>
            <a:endParaRPr lang="en-US" sz="1950" dirty="0"/>
          </a:p>
        </p:txBody>
      </p:sp>
      <p:sp>
        <p:nvSpPr>
          <p:cNvPr id="4" name="Text 2"/>
          <p:cNvSpPr/>
          <p:nvPr/>
        </p:nvSpPr>
        <p:spPr>
          <a:xfrm>
            <a:off x="793790" y="3391614"/>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Respect is accepting the other's inherent worth and dignity as a human being. It is recognition of their intrinsic value, independent of external factors. Respect acknowledges that every person has fundamental dignity and potential.</a:t>
            </a:r>
            <a:endParaRPr lang="en-US" sz="1550" dirty="0"/>
          </a:p>
        </p:txBody>
      </p:sp>
      <p:sp>
        <p:nvSpPr>
          <p:cNvPr id="5" name="Text 3"/>
          <p:cNvSpPr/>
          <p:nvPr/>
        </p:nvSpPr>
        <p:spPr>
          <a:xfrm>
            <a:off x="7564874" y="2883098"/>
            <a:ext cx="2597706"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Roboto Medium" pitchFamily="34" charset="0"/>
                <a:ea typeface="Roboto Medium" pitchFamily="34" charset="-122"/>
                <a:cs typeface="Roboto Medium" pitchFamily="34" charset="-120"/>
              </a:rPr>
              <a:t>What is Differentiation?</a:t>
            </a:r>
            <a:endParaRPr lang="en-US" sz="1950" dirty="0"/>
          </a:p>
        </p:txBody>
      </p:sp>
      <p:sp>
        <p:nvSpPr>
          <p:cNvPr id="6" name="Text 4"/>
          <p:cNvSpPr/>
          <p:nvPr/>
        </p:nvSpPr>
        <p:spPr>
          <a:xfrm>
            <a:off x="7564874" y="3391614"/>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Differentiation is judging people based on body, wealth, beliefs, status, or social position. It creates hierarchies of worth—some people deemed more valuable than others. This is the root cause of discrimination and disrespect.</a:t>
            </a:r>
            <a:endParaRPr lang="en-US" sz="1550" dirty="0"/>
          </a:p>
        </p:txBody>
      </p:sp>
      <p:sp>
        <p:nvSpPr>
          <p:cNvPr id="7" name="Text 5"/>
          <p:cNvSpPr/>
          <p:nvPr/>
        </p:nvSpPr>
        <p:spPr>
          <a:xfrm>
            <a:off x="793790" y="5063609"/>
            <a:ext cx="13042821" cy="952619"/>
          </a:xfrm>
          <a:prstGeom prst="rect">
            <a:avLst/>
          </a:prstGeom>
          <a:noFill/>
          <a:ln/>
        </p:spPr>
        <p:txBody>
          <a:bodyPr wrap="square" lIns="0" tIns="0" rIns="0" bIns="0" rtlCol="0" anchor="t"/>
          <a:lstStyle/>
          <a:p>
            <a:pPr marL="0" indent="0" algn="l">
              <a:lnSpc>
                <a:spcPts val="2500"/>
              </a:lnSpc>
              <a:buNone/>
            </a:pPr>
            <a:r>
              <a:rPr lang="en-US" sz="1550" b="1" dirty="0">
                <a:solidFill>
                  <a:srgbClr val="CFD0D8"/>
                </a:solidFill>
                <a:latin typeface="Roboto" pitchFamily="34" charset="0"/>
                <a:ea typeface="Roboto" pitchFamily="34" charset="-122"/>
                <a:cs typeface="Roboto" pitchFamily="34" charset="-120"/>
              </a:rPr>
              <a:t>The Critical Difference:</a:t>
            </a:r>
            <a:r>
              <a:rPr lang="en-US" sz="1550" dirty="0">
                <a:solidFill>
                  <a:srgbClr val="CFD0D8"/>
                </a:solidFill>
                <a:latin typeface="Roboto" pitchFamily="34" charset="0"/>
                <a:ea typeface="Roboto" pitchFamily="34" charset="-122"/>
                <a:cs typeface="Roboto" pitchFamily="34" charset="-120"/>
              </a:rPr>
              <a:t> When we differentiate, we disrespect. Disrespect fragments society, creating division, tension, and disharmony. True respect fosters comfort within ourselves and enables authentic connection with others. It is the antidote to discrimination based on gender, race, wealth, belief, or status.</a:t>
            </a:r>
            <a:endParaRPr lang="en-US" sz="1550" dirty="0"/>
          </a:p>
        </p:txBody>
      </p:sp>
      <p:sp>
        <p:nvSpPr>
          <p:cNvPr id="8" name="Shape 6"/>
          <p:cNvSpPr/>
          <p:nvPr/>
        </p:nvSpPr>
        <p:spPr>
          <a:xfrm>
            <a:off x="793790" y="6239470"/>
            <a:ext cx="13042821" cy="843201"/>
          </a:xfrm>
          <a:prstGeom prst="roundRect">
            <a:avLst>
              <a:gd name="adj" fmla="val 9886"/>
            </a:avLst>
          </a:prstGeom>
          <a:solidFill>
            <a:srgbClr val="0F163E"/>
          </a:solidFill>
          <a:ln/>
        </p:spPr>
      </p:sp>
      <p:pic>
        <p:nvPicPr>
          <p:cNvPr id="9" name="Image 0" descr="preencoded.png"/>
          <p:cNvPicPr>
            <a:picLocks noChangeAspect="1"/>
          </p:cNvPicPr>
          <p:nvPr/>
        </p:nvPicPr>
        <p:blipFill>
          <a:blip r:embed="rId3"/>
          <a:stretch>
            <a:fillRect/>
          </a:stretch>
        </p:blipFill>
        <p:spPr>
          <a:xfrm>
            <a:off x="992148" y="6534745"/>
            <a:ext cx="248007" cy="198358"/>
          </a:xfrm>
          <a:prstGeom prst="rect">
            <a:avLst/>
          </a:prstGeom>
        </p:spPr>
      </p:pic>
      <p:sp>
        <p:nvSpPr>
          <p:cNvPr id="10" name="Text 7"/>
          <p:cNvSpPr/>
          <p:nvPr/>
        </p:nvSpPr>
        <p:spPr>
          <a:xfrm>
            <a:off x="1438513" y="6487358"/>
            <a:ext cx="12199739"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Roboto" pitchFamily="34" charset="0"/>
                <a:ea typeface="Roboto" pitchFamily="34" charset="-122"/>
                <a:cs typeface="Roboto" pitchFamily="34" charset="-120"/>
              </a:rPr>
              <a:t>Social harmony cannot exist where differentiation and disrespect prevail. Universal respect is the prerequisite for a cohesive society.</a:t>
            </a:r>
            <a:endParaRPr lang="en-US" sz="1550" dirty="0"/>
          </a:p>
        </p:txBody>
      </p:sp>
      <p:pic>
        <p:nvPicPr>
          <p:cNvPr id="11" name="Picture 10"/>
          <p:cNvPicPr>
            <a:picLocks noChangeAspect="1"/>
          </p:cNvPicPr>
          <p:nvPr/>
        </p:nvPicPr>
        <p:blipFill>
          <a:blip r:embed="rId4"/>
          <a:stretch>
            <a:fillRect/>
          </a:stretch>
        </p:blipFill>
        <p:spPr>
          <a:xfrm>
            <a:off x="11058026" y="7715178"/>
            <a:ext cx="3572374" cy="5144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1277" y="475298"/>
            <a:ext cx="11564064" cy="540068"/>
          </a:xfrm>
          <a:prstGeom prst="rect">
            <a:avLst/>
          </a:prstGeom>
          <a:noFill/>
          <a:ln/>
        </p:spPr>
        <p:txBody>
          <a:bodyPr wrap="none" lIns="0" tIns="0" rIns="0" bIns="0" rtlCol="0" anchor="t"/>
          <a:lstStyle/>
          <a:p>
            <a:pPr marL="0" indent="0" algn="l">
              <a:lnSpc>
                <a:spcPts val="4250"/>
              </a:lnSpc>
              <a:buNone/>
            </a:pPr>
            <a:r>
              <a:rPr lang="en-US" sz="3400" dirty="0">
                <a:solidFill>
                  <a:srgbClr val="FFFFFF"/>
                </a:solidFill>
                <a:latin typeface="Roboto Medium" pitchFamily="34" charset="0"/>
                <a:ea typeface="Roboto Medium" pitchFamily="34" charset="-122"/>
                <a:cs typeface="Roboto Medium" pitchFamily="34" charset="-120"/>
              </a:rPr>
              <a:t>Harmony in Society: The Family as the Basic Unit and Model</a:t>
            </a:r>
            <a:endParaRPr lang="en-US" sz="3400" dirty="0"/>
          </a:p>
        </p:txBody>
      </p:sp>
      <p:sp>
        <p:nvSpPr>
          <p:cNvPr id="3" name="Text 1"/>
          <p:cNvSpPr/>
          <p:nvPr/>
        </p:nvSpPr>
        <p:spPr>
          <a:xfrm>
            <a:off x="691277" y="1361003"/>
            <a:ext cx="13247846" cy="553164"/>
          </a:xfrm>
          <a:prstGeom prst="rect">
            <a:avLst/>
          </a:prstGeom>
          <a:noFill/>
          <a:ln/>
        </p:spPr>
        <p:txBody>
          <a:bodyPr wrap="square" lIns="0" tIns="0" rIns="0" bIns="0" rtlCol="0" anchor="t"/>
          <a:lstStyle/>
          <a:p>
            <a:pPr marL="0" indent="0" algn="l">
              <a:lnSpc>
                <a:spcPts val="2150"/>
              </a:lnSpc>
              <a:buNone/>
            </a:pPr>
            <a:r>
              <a:rPr lang="en-US" sz="1350" dirty="0">
                <a:solidFill>
                  <a:srgbClr val="CFD0D8"/>
                </a:solidFill>
                <a:latin typeface="Roboto" pitchFamily="34" charset="0"/>
                <a:ea typeface="Roboto" pitchFamily="34" charset="-122"/>
                <a:cs typeface="Roboto" pitchFamily="34" charset="-120"/>
              </a:rPr>
              <a:t>Society is not an abstract concept—it is an extension of the family. The values, norms, and patterns of relationship learned in the family directly shape how individuals function in society. A harmonious family produces individuals capable of creating a harmonious society.</a:t>
            </a:r>
            <a:endParaRPr lang="en-US" sz="1350" dirty="0"/>
          </a:p>
        </p:txBody>
      </p:sp>
      <p:sp>
        <p:nvSpPr>
          <p:cNvPr id="4" name="Text 2"/>
          <p:cNvSpPr/>
          <p:nvPr/>
        </p:nvSpPr>
        <p:spPr>
          <a:xfrm>
            <a:off x="691277" y="2108597"/>
            <a:ext cx="13247846" cy="276582"/>
          </a:xfrm>
          <a:prstGeom prst="rect">
            <a:avLst/>
          </a:prstGeom>
          <a:noFill/>
          <a:ln/>
        </p:spPr>
        <p:txBody>
          <a:bodyPr wrap="none" lIns="0" tIns="0" rIns="0" bIns="0" rtlCol="0" anchor="t"/>
          <a:lstStyle/>
          <a:p>
            <a:pPr marL="0" indent="0" algn="l">
              <a:lnSpc>
                <a:spcPts val="2150"/>
              </a:lnSpc>
              <a:buNone/>
            </a:pPr>
            <a:r>
              <a:rPr lang="en-US" sz="1350" dirty="0">
                <a:solidFill>
                  <a:srgbClr val="CFD0D8"/>
                </a:solidFill>
                <a:latin typeface="Roboto" pitchFamily="34" charset="0"/>
                <a:ea typeface="Roboto" pitchFamily="34" charset="-122"/>
                <a:cs typeface="Roboto" pitchFamily="34" charset="-120"/>
              </a:rPr>
              <a:t>The comprehensive human goals for societal harmony mirror those of family harmony:</a:t>
            </a:r>
            <a:endParaRPr lang="en-US" sz="1350" dirty="0"/>
          </a:p>
        </p:txBody>
      </p:sp>
      <p:sp>
        <p:nvSpPr>
          <p:cNvPr id="5" name="Text 3"/>
          <p:cNvSpPr/>
          <p:nvPr/>
        </p:nvSpPr>
        <p:spPr>
          <a:xfrm>
            <a:off x="2577108" y="3279577"/>
            <a:ext cx="2160508" cy="270034"/>
          </a:xfrm>
          <a:prstGeom prst="rect">
            <a:avLst/>
          </a:prstGeom>
          <a:noFill/>
          <a:ln/>
        </p:spPr>
        <p:txBody>
          <a:bodyPr wrap="none" lIns="0" tIns="0" rIns="0" bIns="0" rtlCol="0" anchor="t"/>
          <a:lstStyle/>
          <a:p>
            <a:pPr marL="0" indent="0" algn="r">
              <a:lnSpc>
                <a:spcPts val="2100"/>
              </a:lnSpc>
              <a:buNone/>
            </a:pPr>
            <a:r>
              <a:rPr lang="en-US" sz="1700" dirty="0">
                <a:solidFill>
                  <a:srgbClr val="CFD0D8"/>
                </a:solidFill>
                <a:latin typeface="Roboto Medium" pitchFamily="34" charset="0"/>
                <a:ea typeface="Roboto Medium" pitchFamily="34" charset="-122"/>
                <a:cs typeface="Roboto Medium" pitchFamily="34" charset="-120"/>
              </a:rPr>
              <a:t>Resolution</a:t>
            </a:r>
            <a:endParaRPr lang="en-US" sz="1700" dirty="0"/>
          </a:p>
        </p:txBody>
      </p:sp>
      <p:sp>
        <p:nvSpPr>
          <p:cNvPr id="6" name="Text 4"/>
          <p:cNvSpPr/>
          <p:nvPr/>
        </p:nvSpPr>
        <p:spPr>
          <a:xfrm>
            <a:off x="691277" y="3653314"/>
            <a:ext cx="4046339" cy="553164"/>
          </a:xfrm>
          <a:prstGeom prst="rect">
            <a:avLst/>
          </a:prstGeom>
          <a:noFill/>
          <a:ln/>
        </p:spPr>
        <p:txBody>
          <a:bodyPr wrap="square" lIns="0" tIns="0" rIns="0" bIns="0" rtlCol="0" anchor="t"/>
          <a:lstStyle/>
          <a:p>
            <a:pPr marL="0" indent="0" algn="r">
              <a:lnSpc>
                <a:spcPts val="2150"/>
              </a:lnSpc>
              <a:buNone/>
            </a:pPr>
            <a:r>
              <a:rPr lang="en-US" sz="1350" dirty="0">
                <a:solidFill>
                  <a:srgbClr val="CFD0D8"/>
                </a:solidFill>
                <a:latin typeface="Roboto" pitchFamily="34" charset="0"/>
                <a:ea typeface="Roboto" pitchFamily="34" charset="-122"/>
                <a:cs typeface="Roboto" pitchFamily="34" charset="-120"/>
              </a:rPr>
              <a:t>Effective conflict resolution through dialogue and understanding</a:t>
            </a:r>
            <a:endParaRPr lang="en-US" sz="1350" dirty="0"/>
          </a:p>
        </p:txBody>
      </p:sp>
      <p:pic>
        <p:nvPicPr>
          <p:cNvPr id="7" name="Image 0" descr="preencoded.png"/>
          <p:cNvPicPr>
            <a:picLocks noChangeAspect="1"/>
          </p:cNvPicPr>
          <p:nvPr/>
        </p:nvPicPr>
        <p:blipFill>
          <a:blip r:embed="rId3"/>
          <a:stretch>
            <a:fillRect/>
          </a:stretch>
        </p:blipFill>
        <p:spPr>
          <a:xfrm>
            <a:off x="4996815" y="2579608"/>
            <a:ext cx="4636651" cy="4636651"/>
          </a:xfrm>
          <a:prstGeom prst="rect">
            <a:avLst/>
          </a:prstGeom>
        </p:spPr>
      </p:pic>
      <p:pic>
        <p:nvPicPr>
          <p:cNvPr id="8" name="Image 1" descr="preencoded.png"/>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6038195" y="3620988"/>
            <a:ext cx="258604" cy="258604"/>
          </a:xfrm>
          <a:prstGeom prst="rect">
            <a:avLst/>
          </a:prstGeom>
        </p:spPr>
      </p:pic>
      <p:sp>
        <p:nvSpPr>
          <p:cNvPr id="9" name="Text 5"/>
          <p:cNvSpPr/>
          <p:nvPr/>
        </p:nvSpPr>
        <p:spPr>
          <a:xfrm>
            <a:off x="9892665" y="3417927"/>
            <a:ext cx="2160508" cy="270034"/>
          </a:xfrm>
          <a:prstGeom prst="rect">
            <a:avLst/>
          </a:prstGeom>
          <a:noFill/>
          <a:ln/>
        </p:spPr>
        <p:txBody>
          <a:bodyPr wrap="none" lIns="0" tIns="0" rIns="0" bIns="0" rtlCol="0" anchor="t"/>
          <a:lstStyle/>
          <a:p>
            <a:pPr marL="0" indent="0" algn="l">
              <a:lnSpc>
                <a:spcPts val="2100"/>
              </a:lnSpc>
              <a:buNone/>
            </a:pPr>
            <a:r>
              <a:rPr lang="en-US" sz="1700" dirty="0">
                <a:solidFill>
                  <a:srgbClr val="CFD0D8"/>
                </a:solidFill>
                <a:latin typeface="Roboto Medium" pitchFamily="34" charset="0"/>
                <a:ea typeface="Roboto Medium" pitchFamily="34" charset="-122"/>
                <a:cs typeface="Roboto Medium" pitchFamily="34" charset="-120"/>
              </a:rPr>
              <a:t>Prosperity</a:t>
            </a:r>
            <a:endParaRPr lang="en-US" sz="1700" dirty="0"/>
          </a:p>
        </p:txBody>
      </p:sp>
      <p:sp>
        <p:nvSpPr>
          <p:cNvPr id="10" name="Text 6"/>
          <p:cNvSpPr/>
          <p:nvPr/>
        </p:nvSpPr>
        <p:spPr>
          <a:xfrm>
            <a:off x="9892665" y="3791664"/>
            <a:ext cx="4046458" cy="276582"/>
          </a:xfrm>
          <a:prstGeom prst="rect">
            <a:avLst/>
          </a:prstGeom>
          <a:noFill/>
          <a:ln/>
        </p:spPr>
        <p:txBody>
          <a:bodyPr wrap="none" lIns="0" tIns="0" rIns="0" bIns="0" rtlCol="0" anchor="t"/>
          <a:lstStyle/>
          <a:p>
            <a:pPr marL="0" indent="0" algn="l">
              <a:lnSpc>
                <a:spcPts val="2150"/>
              </a:lnSpc>
              <a:buNone/>
            </a:pPr>
            <a:r>
              <a:rPr lang="en-US" sz="1350" dirty="0">
                <a:solidFill>
                  <a:srgbClr val="CFD0D8"/>
                </a:solidFill>
                <a:latin typeface="Roboto" pitchFamily="34" charset="0"/>
                <a:ea typeface="Roboto" pitchFamily="34" charset="-122"/>
                <a:cs typeface="Roboto" pitchFamily="34" charset="-120"/>
              </a:rPr>
              <a:t>Material and moral wellbeing for all members</a:t>
            </a:r>
            <a:endParaRPr lang="en-US" sz="1350" dirty="0"/>
          </a:p>
        </p:txBody>
      </p:sp>
      <p:pic>
        <p:nvPicPr>
          <p:cNvPr id="11" name="Image 2" descr="preencoded.png"/>
          <p:cNvPicPr>
            <a:picLocks noChangeAspect="1"/>
          </p:cNvPicPr>
          <p:nvPr/>
        </p:nvPicPr>
        <p:blipFill>
          <a:blip r:embed="rId6"/>
          <a:stretch>
            <a:fillRect/>
          </a:stretch>
        </p:blipFill>
        <p:spPr>
          <a:xfrm>
            <a:off x="4996815" y="2579608"/>
            <a:ext cx="4636651" cy="4636651"/>
          </a:xfrm>
          <a:prstGeom prst="rect">
            <a:avLst/>
          </a:prstGeom>
        </p:spPr>
      </p:pic>
      <p:pic>
        <p:nvPicPr>
          <p:cNvPr id="12" name="Image 3" descr="preencoded.png"/>
          <p:cNvPicPr>
            <a:picLocks noChangeAspect="1"/>
          </p:cNvPicPr>
          <p:nvPr/>
        </p:nvPicPr>
        <p:blipFill>
          <a:blip r:embed="rId4">
            <a:extLst>
              <a:ext uri="{96DAC541-7B7A-43D3-8B79-37D633B846F1}">
                <asvg:svgBlip xmlns="" xmlns:asvg="http://schemas.microsoft.com/office/drawing/2016/SVG/main" r:embed="rId7"/>
              </a:ext>
            </a:extLst>
          </a:blip>
          <a:stretch>
            <a:fillRect/>
          </a:stretch>
        </p:blipFill>
        <p:spPr>
          <a:xfrm>
            <a:off x="8333244" y="3620988"/>
            <a:ext cx="258604" cy="258604"/>
          </a:xfrm>
          <a:prstGeom prst="rect">
            <a:avLst/>
          </a:prstGeom>
        </p:spPr>
      </p:pic>
      <p:sp>
        <p:nvSpPr>
          <p:cNvPr id="13" name="Text 7"/>
          <p:cNvSpPr/>
          <p:nvPr/>
        </p:nvSpPr>
        <p:spPr>
          <a:xfrm>
            <a:off x="9892665" y="5865852"/>
            <a:ext cx="2160508" cy="270034"/>
          </a:xfrm>
          <a:prstGeom prst="rect">
            <a:avLst/>
          </a:prstGeom>
          <a:noFill/>
          <a:ln/>
        </p:spPr>
        <p:txBody>
          <a:bodyPr wrap="none" lIns="0" tIns="0" rIns="0" bIns="0" rtlCol="0" anchor="t"/>
          <a:lstStyle/>
          <a:p>
            <a:pPr marL="0" indent="0" algn="l">
              <a:lnSpc>
                <a:spcPts val="2100"/>
              </a:lnSpc>
              <a:buNone/>
            </a:pPr>
            <a:r>
              <a:rPr lang="en-US" sz="1700" dirty="0">
                <a:solidFill>
                  <a:srgbClr val="CFD0D8"/>
                </a:solidFill>
                <a:latin typeface="Roboto Medium" pitchFamily="34" charset="0"/>
                <a:ea typeface="Roboto Medium" pitchFamily="34" charset="-122"/>
                <a:cs typeface="Roboto Medium" pitchFamily="34" charset="-120"/>
              </a:rPr>
              <a:t>Fearlessness</a:t>
            </a:r>
            <a:endParaRPr lang="en-US" sz="1700" dirty="0"/>
          </a:p>
        </p:txBody>
      </p:sp>
      <p:sp>
        <p:nvSpPr>
          <p:cNvPr id="14" name="Text 8"/>
          <p:cNvSpPr/>
          <p:nvPr/>
        </p:nvSpPr>
        <p:spPr>
          <a:xfrm>
            <a:off x="9892665" y="6239589"/>
            <a:ext cx="4046458" cy="276582"/>
          </a:xfrm>
          <a:prstGeom prst="rect">
            <a:avLst/>
          </a:prstGeom>
          <a:noFill/>
          <a:ln/>
        </p:spPr>
        <p:txBody>
          <a:bodyPr wrap="none" lIns="0" tIns="0" rIns="0" bIns="0" rtlCol="0" anchor="t"/>
          <a:lstStyle/>
          <a:p>
            <a:pPr marL="0" indent="0" algn="l">
              <a:lnSpc>
                <a:spcPts val="2150"/>
              </a:lnSpc>
              <a:buNone/>
            </a:pPr>
            <a:r>
              <a:rPr lang="en-US" sz="1350" dirty="0">
                <a:solidFill>
                  <a:srgbClr val="CFD0D8"/>
                </a:solidFill>
                <a:latin typeface="Roboto" pitchFamily="34" charset="0"/>
                <a:ea typeface="Roboto" pitchFamily="34" charset="-122"/>
                <a:cs typeface="Roboto" pitchFamily="34" charset="-120"/>
              </a:rPr>
              <a:t>Trust and security in relationships and institutions</a:t>
            </a:r>
            <a:endParaRPr lang="en-US" sz="1350" dirty="0"/>
          </a:p>
        </p:txBody>
      </p:sp>
      <p:pic>
        <p:nvPicPr>
          <p:cNvPr id="15" name="Image 4" descr="preencoded.png"/>
          <p:cNvPicPr>
            <a:picLocks noChangeAspect="1"/>
          </p:cNvPicPr>
          <p:nvPr/>
        </p:nvPicPr>
        <p:blipFill>
          <a:blip r:embed="rId8"/>
          <a:stretch>
            <a:fillRect/>
          </a:stretch>
        </p:blipFill>
        <p:spPr>
          <a:xfrm>
            <a:off x="4996815" y="2579608"/>
            <a:ext cx="4636651" cy="4636651"/>
          </a:xfrm>
          <a:prstGeom prst="rect">
            <a:avLst/>
          </a:prstGeom>
        </p:spPr>
      </p:pic>
      <p:pic>
        <p:nvPicPr>
          <p:cNvPr id="16" name="Image 5" descr="preencoded.png"/>
          <p:cNvPicPr>
            <a:picLocks noChangeAspect="1"/>
          </p:cNvPicPr>
          <p:nvPr/>
        </p:nvPicPr>
        <p:blipFill>
          <a:blip r:embed="rId4">
            <a:extLst>
              <a:ext uri="{96DAC541-7B7A-43D3-8B79-37D633B846F1}">
                <asvg:svgBlip xmlns="" xmlns:asvg="http://schemas.microsoft.com/office/drawing/2016/SVG/main" r:embed="rId9"/>
              </a:ext>
            </a:extLst>
          </a:blip>
          <a:stretch>
            <a:fillRect/>
          </a:stretch>
        </p:blipFill>
        <p:spPr>
          <a:xfrm>
            <a:off x="8333244" y="5916037"/>
            <a:ext cx="258604" cy="258604"/>
          </a:xfrm>
          <a:prstGeom prst="rect">
            <a:avLst/>
          </a:prstGeom>
        </p:spPr>
      </p:pic>
      <p:sp>
        <p:nvSpPr>
          <p:cNvPr id="17" name="Text 9"/>
          <p:cNvSpPr/>
          <p:nvPr/>
        </p:nvSpPr>
        <p:spPr>
          <a:xfrm>
            <a:off x="2577108" y="5865852"/>
            <a:ext cx="2160508" cy="270034"/>
          </a:xfrm>
          <a:prstGeom prst="rect">
            <a:avLst/>
          </a:prstGeom>
          <a:noFill/>
          <a:ln/>
        </p:spPr>
        <p:txBody>
          <a:bodyPr wrap="none" lIns="0" tIns="0" rIns="0" bIns="0" rtlCol="0" anchor="t"/>
          <a:lstStyle/>
          <a:p>
            <a:pPr marL="0" indent="0" algn="r">
              <a:lnSpc>
                <a:spcPts val="2100"/>
              </a:lnSpc>
              <a:buNone/>
            </a:pPr>
            <a:r>
              <a:rPr lang="en-US" sz="1700" dirty="0">
                <a:solidFill>
                  <a:srgbClr val="CFD0D8"/>
                </a:solidFill>
                <a:latin typeface="Roboto Medium" pitchFamily="34" charset="0"/>
                <a:ea typeface="Roboto Medium" pitchFamily="34" charset="-122"/>
                <a:cs typeface="Roboto Medium" pitchFamily="34" charset="-120"/>
              </a:rPr>
              <a:t>Co-existence</a:t>
            </a:r>
            <a:endParaRPr lang="en-US" sz="1700" dirty="0"/>
          </a:p>
        </p:txBody>
      </p:sp>
      <p:sp>
        <p:nvSpPr>
          <p:cNvPr id="18" name="Text 10"/>
          <p:cNvSpPr/>
          <p:nvPr/>
        </p:nvSpPr>
        <p:spPr>
          <a:xfrm>
            <a:off x="691277" y="6239589"/>
            <a:ext cx="4046339" cy="276582"/>
          </a:xfrm>
          <a:prstGeom prst="rect">
            <a:avLst/>
          </a:prstGeom>
          <a:noFill/>
          <a:ln/>
        </p:spPr>
        <p:txBody>
          <a:bodyPr wrap="none" lIns="0" tIns="0" rIns="0" bIns="0" rtlCol="0" anchor="t"/>
          <a:lstStyle/>
          <a:p>
            <a:pPr marL="0" indent="0" algn="r">
              <a:lnSpc>
                <a:spcPts val="2150"/>
              </a:lnSpc>
              <a:buNone/>
            </a:pPr>
            <a:r>
              <a:rPr lang="en-US" sz="1350" dirty="0">
                <a:solidFill>
                  <a:srgbClr val="CFD0D8"/>
                </a:solidFill>
                <a:latin typeface="Roboto" pitchFamily="34" charset="0"/>
                <a:ea typeface="Roboto" pitchFamily="34" charset="-122"/>
                <a:cs typeface="Roboto" pitchFamily="34" charset="-120"/>
              </a:rPr>
              <a:t>Living together with mutual respect and care</a:t>
            </a:r>
            <a:endParaRPr lang="en-US" sz="1350" dirty="0"/>
          </a:p>
        </p:txBody>
      </p:sp>
      <p:pic>
        <p:nvPicPr>
          <p:cNvPr id="19" name="Image 6" descr="preencoded.png"/>
          <p:cNvPicPr>
            <a:picLocks noChangeAspect="1"/>
          </p:cNvPicPr>
          <p:nvPr/>
        </p:nvPicPr>
        <p:blipFill>
          <a:blip r:embed="rId10"/>
          <a:stretch>
            <a:fillRect/>
          </a:stretch>
        </p:blipFill>
        <p:spPr>
          <a:xfrm>
            <a:off x="4996815" y="2579608"/>
            <a:ext cx="4636651" cy="4636651"/>
          </a:xfrm>
          <a:prstGeom prst="rect">
            <a:avLst/>
          </a:prstGeom>
        </p:spPr>
      </p:pic>
      <p:pic>
        <p:nvPicPr>
          <p:cNvPr id="20" name="Image 7" descr="preencoded.png"/>
          <p:cNvPicPr>
            <a:picLocks noChangeAspect="1"/>
          </p:cNvPicPr>
          <p:nvPr/>
        </p:nvPicPr>
        <p:blipFill>
          <a:blip r:embed="rId4">
            <a:extLst>
              <a:ext uri="{96DAC541-7B7A-43D3-8B79-37D633B846F1}">
                <asvg:svgBlip xmlns="" xmlns:asvg="http://schemas.microsoft.com/office/drawing/2016/SVG/main" r:embed="rId12"/>
              </a:ext>
            </a:extLst>
          </a:blip>
          <a:stretch>
            <a:fillRect/>
          </a:stretch>
        </p:blipFill>
        <p:spPr>
          <a:xfrm>
            <a:off x="6038195" y="5916037"/>
            <a:ext cx="258604" cy="258604"/>
          </a:xfrm>
          <a:prstGeom prst="rect">
            <a:avLst/>
          </a:prstGeom>
        </p:spPr>
      </p:pic>
      <p:sp>
        <p:nvSpPr>
          <p:cNvPr id="21" name="Text 11"/>
          <p:cNvSpPr/>
          <p:nvPr/>
        </p:nvSpPr>
        <p:spPr>
          <a:xfrm>
            <a:off x="691277" y="7410688"/>
            <a:ext cx="13247846" cy="553164"/>
          </a:xfrm>
          <a:prstGeom prst="rect">
            <a:avLst/>
          </a:prstGeom>
          <a:noFill/>
          <a:ln/>
        </p:spPr>
        <p:txBody>
          <a:bodyPr wrap="square" lIns="0" tIns="0" rIns="0" bIns="0" rtlCol="0" anchor="t"/>
          <a:lstStyle/>
          <a:p>
            <a:pPr marL="0" indent="0" algn="l">
              <a:lnSpc>
                <a:spcPts val="2150"/>
              </a:lnSpc>
              <a:buNone/>
            </a:pPr>
            <a:r>
              <a:rPr lang="en-US" sz="1350" b="1" dirty="0">
                <a:solidFill>
                  <a:srgbClr val="CFD0D8"/>
                </a:solidFill>
                <a:latin typeface="Roboto" pitchFamily="34" charset="0"/>
                <a:ea typeface="Roboto" pitchFamily="34" charset="-122"/>
                <a:cs typeface="Roboto" pitchFamily="34" charset="-120"/>
              </a:rPr>
              <a:t>Promoting open communication, tolerance, and justice</a:t>
            </a:r>
            <a:r>
              <a:rPr lang="en-US" sz="1350" dirty="0">
                <a:solidFill>
                  <a:srgbClr val="CFD0D8"/>
                </a:solidFill>
                <a:latin typeface="Roboto" pitchFamily="34" charset="0"/>
                <a:ea typeface="Roboto" pitchFamily="34" charset="-122"/>
                <a:cs typeface="Roboto" pitchFamily="34" charset="-120"/>
              </a:rPr>
              <a:t> in families creates the foundation for these societal goals. When families embody these values, their members naturally extend them to their communities.</a:t>
            </a:r>
            <a:endParaRPr lang="en-US" sz="1350" dirty="0"/>
          </a:p>
        </p:txBody>
      </p:sp>
      <p:pic>
        <p:nvPicPr>
          <p:cNvPr id="22" name="Picture 21"/>
          <p:cNvPicPr>
            <a:picLocks noChangeAspect="1"/>
          </p:cNvPicPr>
          <p:nvPr/>
        </p:nvPicPr>
        <p:blipFill>
          <a:blip r:embed="rId13"/>
          <a:stretch>
            <a:fillRect/>
          </a:stretch>
        </p:blipFill>
        <p:spPr>
          <a:xfrm>
            <a:off x="11058026" y="7715178"/>
            <a:ext cx="3572374" cy="5144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485305"/>
            <a:ext cx="7238048" cy="620078"/>
          </a:xfrm>
          <a:prstGeom prst="rect">
            <a:avLst/>
          </a:prstGeom>
          <a:noFill/>
          <a:ln/>
        </p:spPr>
        <p:txBody>
          <a:bodyPr wrap="none" lIns="0" tIns="0" rIns="0" bIns="0" rtlCol="0" anchor="t"/>
          <a:lstStyle/>
          <a:p>
            <a:pPr marL="0" indent="0" algn="l">
              <a:lnSpc>
                <a:spcPts val="4850"/>
              </a:lnSpc>
              <a:buNone/>
            </a:pPr>
            <a:r>
              <a:rPr lang="en-US" sz="3900" dirty="0">
                <a:solidFill>
                  <a:srgbClr val="FFFFFF"/>
                </a:solidFill>
                <a:latin typeface="Roboto Medium" pitchFamily="34" charset="0"/>
                <a:ea typeface="Roboto Medium" pitchFamily="34" charset="-122"/>
                <a:cs typeface="Roboto Medium" pitchFamily="34" charset="-120"/>
              </a:rPr>
              <a:t>Challenges and the Way Forward</a:t>
            </a:r>
            <a:endParaRPr lang="en-US" sz="3900" dirty="0"/>
          </a:p>
        </p:txBody>
      </p:sp>
      <p:sp>
        <p:nvSpPr>
          <p:cNvPr id="3" name="Text 1"/>
          <p:cNvSpPr/>
          <p:nvPr/>
        </p:nvSpPr>
        <p:spPr>
          <a:xfrm>
            <a:off x="793790" y="2502218"/>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Contemporary society faces significant obstacles to harmony. </a:t>
            </a:r>
            <a:r>
              <a:rPr lang="en-US" sz="1550" b="1" dirty="0">
                <a:solidFill>
                  <a:srgbClr val="CFD0D8"/>
                </a:solidFill>
                <a:latin typeface="Roboto" pitchFamily="34" charset="0"/>
                <a:ea typeface="Roboto" pitchFamily="34" charset="-122"/>
                <a:cs typeface="Roboto" pitchFamily="34" charset="-120"/>
              </a:rPr>
              <a:t>Discrimination based on gender, race, wealth, and beliefs</a:t>
            </a:r>
            <a:r>
              <a:rPr lang="en-US" sz="1550" dirty="0">
                <a:solidFill>
                  <a:srgbClr val="CFD0D8"/>
                </a:solidFill>
                <a:latin typeface="Roboto" pitchFamily="34" charset="0"/>
                <a:ea typeface="Roboto" pitchFamily="34" charset="-122"/>
                <a:cs typeface="Roboto" pitchFamily="34" charset="-120"/>
              </a:rPr>
              <a:t> continues to disrupt relationships and fragment communities. These issues originate from a fundamental misunderstanding—the practice of differentiation instead of respect.</a:t>
            </a:r>
            <a:endParaRPr lang="en-US" sz="1550" dirty="0"/>
          </a:p>
        </p:txBody>
      </p:sp>
      <p:pic>
        <p:nvPicPr>
          <p:cNvPr id="4" name="Image 0" descr="preencoded.png"/>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868204" y="3684151"/>
            <a:ext cx="297656" cy="297656"/>
          </a:xfrm>
          <a:prstGeom prst="rect">
            <a:avLst/>
          </a:prstGeom>
        </p:spPr>
      </p:pic>
      <p:sp>
        <p:nvSpPr>
          <p:cNvPr id="5" name="Text 2"/>
          <p:cNvSpPr/>
          <p:nvPr/>
        </p:nvSpPr>
        <p:spPr>
          <a:xfrm>
            <a:off x="1438632" y="3678079"/>
            <a:ext cx="3059787"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Roboto Medium" pitchFamily="34" charset="0"/>
                <a:ea typeface="Roboto Medium" pitchFamily="34" charset="-122"/>
                <a:cs typeface="Roboto Medium" pitchFamily="34" charset="-120"/>
              </a:rPr>
              <a:t>Recognize Universal Values</a:t>
            </a:r>
            <a:endParaRPr lang="en-US" sz="1950" dirty="0"/>
          </a:p>
        </p:txBody>
      </p:sp>
      <p:sp>
        <p:nvSpPr>
          <p:cNvPr id="6" name="Text 3"/>
          <p:cNvSpPr/>
          <p:nvPr/>
        </p:nvSpPr>
        <p:spPr>
          <a:xfrm>
            <a:off x="1438632" y="4107299"/>
            <a:ext cx="5752505"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Consciously acknowledge that trust, respect, and the other nine values apply universally to all people, regardless of background</a:t>
            </a:r>
            <a:endParaRPr lang="en-US" sz="1550" dirty="0"/>
          </a:p>
        </p:txBody>
      </p:sp>
      <p:pic>
        <p:nvPicPr>
          <p:cNvPr id="7" name="Image 1" descr="preencoded.png"/>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7513558" y="3684151"/>
            <a:ext cx="297656" cy="297656"/>
          </a:xfrm>
          <a:prstGeom prst="rect">
            <a:avLst/>
          </a:prstGeom>
        </p:spPr>
      </p:pic>
      <p:sp>
        <p:nvSpPr>
          <p:cNvPr id="8" name="Text 4"/>
          <p:cNvSpPr/>
          <p:nvPr/>
        </p:nvSpPr>
        <p:spPr>
          <a:xfrm>
            <a:off x="8083987" y="3678079"/>
            <a:ext cx="3282672"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Roboto Medium" pitchFamily="34" charset="0"/>
                <a:ea typeface="Roboto Medium" pitchFamily="34" charset="-122"/>
                <a:cs typeface="Roboto Medium" pitchFamily="34" charset="-120"/>
              </a:rPr>
              <a:t>Education and Self-Reflection</a:t>
            </a:r>
            <a:endParaRPr lang="en-US" sz="1950" dirty="0"/>
          </a:p>
        </p:txBody>
      </p:sp>
      <p:sp>
        <p:nvSpPr>
          <p:cNvPr id="9" name="Text 5"/>
          <p:cNvSpPr/>
          <p:nvPr/>
        </p:nvSpPr>
        <p:spPr>
          <a:xfrm>
            <a:off x="8083987" y="4107299"/>
            <a:ext cx="5752624"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Engage in personal and collective learning to understand how differentiation limits our thinking and relationships</a:t>
            </a:r>
            <a:endParaRPr lang="en-US" sz="1550" dirty="0"/>
          </a:p>
        </p:txBody>
      </p:sp>
      <p:pic>
        <p:nvPicPr>
          <p:cNvPr id="10" name="Image 2" descr="preencoded.png"/>
          <p:cNvPicPr>
            <a:picLocks noChangeAspect="1"/>
          </p:cNvPicPr>
          <p:nvPr/>
        </p:nvPicPr>
        <p:blipFill>
          <a:blip r:embed="rId3">
            <a:extLst>
              <a:ext uri="{96DAC541-7B7A-43D3-8B79-37D633B846F1}">
                <asvg:svgBlip xmlns="" xmlns:asvg="http://schemas.microsoft.com/office/drawing/2016/SVG/main" r:embed="rId6"/>
              </a:ext>
            </a:extLst>
          </a:blip>
          <a:stretch>
            <a:fillRect/>
          </a:stretch>
        </p:blipFill>
        <p:spPr>
          <a:xfrm>
            <a:off x="868204" y="5145286"/>
            <a:ext cx="297656" cy="297656"/>
          </a:xfrm>
          <a:prstGeom prst="rect">
            <a:avLst/>
          </a:prstGeom>
        </p:spPr>
      </p:pic>
      <p:sp>
        <p:nvSpPr>
          <p:cNvPr id="11" name="Text 6"/>
          <p:cNvSpPr/>
          <p:nvPr/>
        </p:nvSpPr>
        <p:spPr>
          <a:xfrm>
            <a:off x="1438632" y="5139214"/>
            <a:ext cx="2904292"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Roboto Medium" pitchFamily="34" charset="0"/>
                <a:ea typeface="Roboto Medium" pitchFamily="34" charset="-122"/>
                <a:cs typeface="Roboto Medium" pitchFamily="34" charset="-120"/>
              </a:rPr>
              <a:t>Dialogue and Engagement</a:t>
            </a:r>
            <a:endParaRPr lang="en-US" sz="1950" dirty="0"/>
          </a:p>
        </p:txBody>
      </p:sp>
      <p:sp>
        <p:nvSpPr>
          <p:cNvPr id="12" name="Text 7"/>
          <p:cNvSpPr/>
          <p:nvPr/>
        </p:nvSpPr>
        <p:spPr>
          <a:xfrm>
            <a:off x="1438632" y="5568434"/>
            <a:ext cx="5752505"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Build bridges across different communities through open, honest conversation rooted in mutual respect</a:t>
            </a:r>
            <a:endParaRPr lang="en-US" sz="1550" dirty="0"/>
          </a:p>
        </p:txBody>
      </p:sp>
      <p:pic>
        <p:nvPicPr>
          <p:cNvPr id="13" name="Image 3" descr="preencoded.png"/>
          <p:cNvPicPr>
            <a:picLocks noChangeAspect="1"/>
          </p:cNvPicPr>
          <p:nvPr/>
        </p:nvPicPr>
        <p:blipFill>
          <a:blip r:embed="rId3">
            <a:extLst>
              <a:ext uri="{96DAC541-7B7A-43D3-8B79-37D633B846F1}">
                <asvg:svgBlip xmlns="" xmlns:asvg="http://schemas.microsoft.com/office/drawing/2016/SVG/main" r:embed="rId8"/>
              </a:ext>
            </a:extLst>
          </a:blip>
          <a:stretch>
            <a:fillRect/>
          </a:stretch>
        </p:blipFill>
        <p:spPr>
          <a:xfrm>
            <a:off x="7513558" y="5145286"/>
            <a:ext cx="297656" cy="297656"/>
          </a:xfrm>
          <a:prstGeom prst="rect">
            <a:avLst/>
          </a:prstGeom>
        </p:spPr>
      </p:pic>
      <p:sp>
        <p:nvSpPr>
          <p:cNvPr id="14" name="Text 8"/>
          <p:cNvSpPr/>
          <p:nvPr/>
        </p:nvSpPr>
        <p:spPr>
          <a:xfrm>
            <a:off x="8083987" y="5139214"/>
            <a:ext cx="3057168" cy="310158"/>
          </a:xfrm>
          <a:prstGeom prst="rect">
            <a:avLst/>
          </a:prstGeom>
          <a:noFill/>
          <a:ln/>
        </p:spPr>
        <p:txBody>
          <a:bodyPr wrap="none" lIns="0" tIns="0" rIns="0" bIns="0" rtlCol="0" anchor="t"/>
          <a:lstStyle/>
          <a:p>
            <a:pPr marL="0" indent="0" algn="l">
              <a:lnSpc>
                <a:spcPts val="2400"/>
              </a:lnSpc>
              <a:buNone/>
            </a:pPr>
            <a:r>
              <a:rPr lang="en-US" sz="1950" dirty="0">
                <a:solidFill>
                  <a:srgbClr val="CFD0D8"/>
                </a:solidFill>
                <a:latin typeface="Roboto Medium" pitchFamily="34" charset="0"/>
                <a:ea typeface="Roboto Medium" pitchFamily="34" charset="-122"/>
                <a:cs typeface="Roboto Medium" pitchFamily="34" charset="-120"/>
              </a:rPr>
              <a:t>Family as the Starting Point</a:t>
            </a:r>
            <a:endParaRPr lang="en-US" sz="1950" dirty="0"/>
          </a:p>
        </p:txBody>
      </p:sp>
      <p:sp>
        <p:nvSpPr>
          <p:cNvPr id="15" name="Text 9"/>
          <p:cNvSpPr/>
          <p:nvPr/>
        </p:nvSpPr>
        <p:spPr>
          <a:xfrm>
            <a:off x="8083987" y="5568434"/>
            <a:ext cx="5752624" cy="635079"/>
          </a:xfrm>
          <a:prstGeom prst="rect">
            <a:avLst/>
          </a:prstGeom>
          <a:noFill/>
          <a:ln/>
        </p:spPr>
        <p:txBody>
          <a:bodyPr wrap="squar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Deliberately cultivate these universal values in families, knowing they will radiate outward to transform society</a:t>
            </a:r>
            <a:endParaRPr lang="en-US" sz="1550" dirty="0"/>
          </a:p>
        </p:txBody>
      </p:sp>
      <p:sp>
        <p:nvSpPr>
          <p:cNvPr id="16" name="Text 10"/>
          <p:cNvSpPr/>
          <p:nvPr/>
        </p:nvSpPr>
        <p:spPr>
          <a:xfrm>
            <a:off x="793790" y="6426756"/>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CFD0D8"/>
                </a:solidFill>
                <a:latin typeface="Roboto" pitchFamily="34" charset="0"/>
                <a:ea typeface="Roboto" pitchFamily="34" charset="-122"/>
                <a:cs typeface="Roboto" pitchFamily="34" charset="-120"/>
              </a:rPr>
              <a:t>This transformation requires intention, consistency, and commitment from individuals and institutions alike.</a:t>
            </a:r>
            <a:endParaRPr lang="en-US" sz="1550" dirty="0"/>
          </a:p>
        </p:txBody>
      </p:sp>
      <p:pic>
        <p:nvPicPr>
          <p:cNvPr id="17" name="Picture 16"/>
          <p:cNvPicPr>
            <a:picLocks noChangeAspect="1"/>
          </p:cNvPicPr>
          <p:nvPr/>
        </p:nvPicPr>
        <p:blipFill>
          <a:blip r:embed="rId9"/>
          <a:stretch>
            <a:fillRect/>
          </a:stretch>
        </p:blipFill>
        <p:spPr>
          <a:xfrm>
            <a:off x="11058026" y="7715178"/>
            <a:ext cx="3572374" cy="5144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4957" y="416481"/>
            <a:ext cx="11018996" cy="472678"/>
          </a:xfrm>
          <a:prstGeom prst="rect">
            <a:avLst/>
          </a:prstGeom>
          <a:noFill/>
          <a:ln/>
        </p:spPr>
        <p:txBody>
          <a:bodyPr wrap="none" lIns="0" tIns="0" rIns="0" bIns="0" rtlCol="0" anchor="t"/>
          <a:lstStyle/>
          <a:p>
            <a:pPr marL="0" indent="0" algn="l">
              <a:lnSpc>
                <a:spcPts val="3700"/>
              </a:lnSpc>
              <a:buNone/>
            </a:pPr>
            <a:r>
              <a:rPr lang="en-US" sz="2950" dirty="0">
                <a:solidFill>
                  <a:srgbClr val="FFFFFF"/>
                </a:solidFill>
                <a:latin typeface="Roboto Medium" pitchFamily="34" charset="0"/>
                <a:ea typeface="Roboto Medium" pitchFamily="34" charset="-122"/>
                <a:cs typeface="Roboto Medium" pitchFamily="34" charset="-120"/>
              </a:rPr>
              <a:t>Conclusion: Living Harmony for Mutual Happiness and Prosperity</a:t>
            </a:r>
            <a:endParaRPr lang="en-US" sz="2950" dirty="0"/>
          </a:p>
        </p:txBody>
      </p:sp>
      <p:sp>
        <p:nvSpPr>
          <p:cNvPr id="3" name="Text 1"/>
          <p:cNvSpPr/>
          <p:nvPr/>
        </p:nvSpPr>
        <p:spPr>
          <a:xfrm>
            <a:off x="604957" y="1191577"/>
            <a:ext cx="13420487" cy="483870"/>
          </a:xfrm>
          <a:prstGeom prst="rect">
            <a:avLst/>
          </a:prstGeom>
          <a:noFill/>
          <a:ln/>
        </p:spPr>
        <p:txBody>
          <a:bodyPr wrap="square" lIns="0" tIns="0" rIns="0" bIns="0" rtlCol="0" anchor="t"/>
          <a:lstStyle/>
          <a:p>
            <a:pPr marL="0" indent="0" algn="l">
              <a:lnSpc>
                <a:spcPts val="1900"/>
              </a:lnSpc>
              <a:buNone/>
            </a:pPr>
            <a:r>
              <a:rPr lang="en-US" sz="1150" dirty="0">
                <a:solidFill>
                  <a:srgbClr val="CFD0D8"/>
                </a:solidFill>
                <a:latin typeface="Roboto" pitchFamily="34" charset="0"/>
                <a:ea typeface="Roboto" pitchFamily="34" charset="-122"/>
                <a:cs typeface="Roboto" pitchFamily="34" charset="-120"/>
              </a:rPr>
              <a:t>Harmony is not a destination but a continuous process rooted in understanding and fulfilling the universal human values. It emerges when we recognize the inherent worth of every person and align our actions accordingly.</a:t>
            </a:r>
            <a:endParaRPr lang="en-US" sz="1150" dirty="0"/>
          </a:p>
        </p:txBody>
      </p:sp>
      <p:sp>
        <p:nvSpPr>
          <p:cNvPr id="4" name="Text 2"/>
          <p:cNvSpPr/>
          <p:nvPr/>
        </p:nvSpPr>
        <p:spPr>
          <a:xfrm>
            <a:off x="604957" y="1845588"/>
            <a:ext cx="13420487" cy="483870"/>
          </a:xfrm>
          <a:prstGeom prst="rect">
            <a:avLst/>
          </a:prstGeom>
          <a:noFill/>
          <a:ln/>
        </p:spPr>
        <p:txBody>
          <a:bodyPr wrap="square" lIns="0" tIns="0" rIns="0" bIns="0" rtlCol="0" anchor="t"/>
          <a:lstStyle/>
          <a:p>
            <a:pPr marL="0" indent="0" algn="l">
              <a:lnSpc>
                <a:spcPts val="1900"/>
              </a:lnSpc>
              <a:buNone/>
            </a:pPr>
            <a:r>
              <a:rPr lang="en-US" sz="1150" b="1" dirty="0">
                <a:solidFill>
                  <a:srgbClr val="5A6ED8"/>
                </a:solidFill>
                <a:latin typeface="Roboto" pitchFamily="34" charset="0"/>
                <a:ea typeface="Roboto" pitchFamily="34" charset="-122"/>
                <a:cs typeface="Roboto" pitchFamily="34" charset="-120"/>
              </a:rPr>
              <a:t>Trust and respect</a:t>
            </a:r>
            <a:r>
              <a:rPr lang="en-US" sz="1150" dirty="0">
                <a:solidFill>
                  <a:srgbClr val="CFD0D8"/>
                </a:solidFill>
                <a:latin typeface="Roboto" pitchFamily="34" charset="0"/>
                <a:ea typeface="Roboto" pitchFamily="34" charset="-122"/>
                <a:cs typeface="Roboto" pitchFamily="34" charset="-120"/>
              </a:rPr>
              <a:t> are the pillars upon which all relationships rest—from intimate family bonds to complex societal structures. </a:t>
            </a:r>
            <a:r>
              <a:rPr lang="en-US" sz="1150" b="1" dirty="0">
                <a:solidFill>
                  <a:srgbClr val="5A6ED8"/>
                </a:solidFill>
                <a:latin typeface="Roboto" pitchFamily="34" charset="0"/>
                <a:ea typeface="Roboto" pitchFamily="34" charset="-122"/>
                <a:cs typeface="Roboto" pitchFamily="34" charset="-120"/>
              </a:rPr>
              <a:t>Justice</a:t>
            </a:r>
            <a:r>
              <a:rPr lang="en-US" sz="1150" dirty="0">
                <a:solidFill>
                  <a:srgbClr val="CFD0D8"/>
                </a:solidFill>
                <a:latin typeface="Roboto" pitchFamily="34" charset="0"/>
                <a:ea typeface="Roboto" pitchFamily="34" charset="-122"/>
                <a:cs typeface="Roboto" pitchFamily="34" charset="-120"/>
              </a:rPr>
              <a:t> ensures that fairness and mutual happiness form the foundation of peaceful coexistence.</a:t>
            </a:r>
            <a:endParaRPr lang="en-US" sz="1150" dirty="0"/>
          </a:p>
        </p:txBody>
      </p:sp>
      <p:sp>
        <p:nvSpPr>
          <p:cNvPr id="5" name="Shape 3"/>
          <p:cNvSpPr/>
          <p:nvPr/>
        </p:nvSpPr>
        <p:spPr>
          <a:xfrm>
            <a:off x="3288983" y="2499598"/>
            <a:ext cx="1341953" cy="871418"/>
          </a:xfrm>
          <a:prstGeom prst="roundRect">
            <a:avLst>
              <a:gd name="adj" fmla="val 7290"/>
            </a:avLst>
          </a:prstGeom>
          <a:solidFill>
            <a:srgbClr val="182567"/>
          </a:solidFill>
          <a:ln w="7620">
            <a:solidFill>
              <a:srgbClr val="313E80"/>
            </a:solidFill>
            <a:prstDash val="solid"/>
          </a:ln>
        </p:spPr>
      </p:sp>
      <p:sp>
        <p:nvSpPr>
          <p:cNvPr id="6" name="Text 4"/>
          <p:cNvSpPr/>
          <p:nvPr/>
        </p:nvSpPr>
        <p:spPr>
          <a:xfrm>
            <a:off x="3853577" y="2802374"/>
            <a:ext cx="212646" cy="265867"/>
          </a:xfrm>
          <a:prstGeom prst="rect">
            <a:avLst/>
          </a:prstGeom>
          <a:noFill/>
          <a:ln/>
        </p:spPr>
        <p:txBody>
          <a:bodyPr wrap="none" lIns="0" tIns="0" rIns="0" bIns="0" rtlCol="0" anchor="t"/>
          <a:lstStyle/>
          <a:p>
            <a:pPr marL="0" indent="0" algn="ctr">
              <a:lnSpc>
                <a:spcPts val="2650"/>
              </a:lnSpc>
              <a:buNone/>
            </a:pPr>
            <a:r>
              <a:rPr lang="en-US" sz="1650" dirty="0">
                <a:solidFill>
                  <a:srgbClr val="CFD0D8"/>
                </a:solidFill>
                <a:latin typeface="Roboto Medium" pitchFamily="34" charset="0"/>
                <a:ea typeface="Roboto Medium" pitchFamily="34" charset="-122"/>
                <a:cs typeface="Roboto Medium" pitchFamily="34" charset="-120"/>
              </a:rPr>
              <a:t>1</a:t>
            </a:r>
            <a:endParaRPr lang="en-US" sz="1650" dirty="0"/>
          </a:p>
        </p:txBody>
      </p:sp>
      <p:sp>
        <p:nvSpPr>
          <p:cNvPr id="7" name="Text 5"/>
          <p:cNvSpPr/>
          <p:nvPr/>
        </p:nvSpPr>
        <p:spPr>
          <a:xfrm>
            <a:off x="4782145" y="2650808"/>
            <a:ext cx="1968579" cy="236339"/>
          </a:xfrm>
          <a:prstGeom prst="rect">
            <a:avLst/>
          </a:prstGeom>
          <a:noFill/>
          <a:ln/>
        </p:spPr>
        <p:txBody>
          <a:bodyPr wrap="none" lIns="0" tIns="0" rIns="0" bIns="0" rtlCol="0" anchor="t"/>
          <a:lstStyle/>
          <a:p>
            <a:pPr marL="0" indent="0" algn="l">
              <a:lnSpc>
                <a:spcPts val="1850"/>
              </a:lnSpc>
              <a:buNone/>
            </a:pPr>
            <a:r>
              <a:rPr lang="en-US" sz="1450" dirty="0">
                <a:solidFill>
                  <a:srgbClr val="CFD0D8"/>
                </a:solidFill>
                <a:latin typeface="Roboto Medium" pitchFamily="34" charset="0"/>
                <a:ea typeface="Roboto Medium" pitchFamily="34" charset="-122"/>
                <a:cs typeface="Roboto Medium" pitchFamily="34" charset="-120"/>
              </a:rPr>
              <a:t>Individual Commitment</a:t>
            </a:r>
            <a:endParaRPr lang="en-US" sz="1450" dirty="0"/>
          </a:p>
        </p:txBody>
      </p:sp>
      <p:sp>
        <p:nvSpPr>
          <p:cNvPr id="8" name="Text 6"/>
          <p:cNvSpPr/>
          <p:nvPr/>
        </p:nvSpPr>
        <p:spPr>
          <a:xfrm>
            <a:off x="4782145" y="2977872"/>
            <a:ext cx="3650337" cy="241935"/>
          </a:xfrm>
          <a:prstGeom prst="rect">
            <a:avLst/>
          </a:prstGeom>
          <a:noFill/>
          <a:ln/>
        </p:spPr>
        <p:txBody>
          <a:bodyPr wrap="none" lIns="0" tIns="0" rIns="0" bIns="0" rtlCol="0" anchor="t"/>
          <a:lstStyle/>
          <a:p>
            <a:pPr marL="0" indent="0" algn="l">
              <a:lnSpc>
                <a:spcPts val="1900"/>
              </a:lnSpc>
              <a:buNone/>
            </a:pPr>
            <a:r>
              <a:rPr lang="en-US" sz="1150" dirty="0">
                <a:solidFill>
                  <a:srgbClr val="CFD0D8"/>
                </a:solidFill>
                <a:latin typeface="Roboto" pitchFamily="34" charset="0"/>
                <a:ea typeface="Roboto" pitchFamily="34" charset="-122"/>
                <a:cs typeface="Roboto" pitchFamily="34" charset="-120"/>
              </a:rPr>
              <a:t>Each person chooses to embody universal values daily</a:t>
            </a:r>
            <a:endParaRPr lang="en-US" sz="1150" dirty="0"/>
          </a:p>
        </p:txBody>
      </p:sp>
      <p:sp>
        <p:nvSpPr>
          <p:cNvPr id="9" name="Shape 7"/>
          <p:cNvSpPr/>
          <p:nvPr/>
        </p:nvSpPr>
        <p:spPr>
          <a:xfrm>
            <a:off x="4706541" y="3367207"/>
            <a:ext cx="9243298" cy="7620"/>
          </a:xfrm>
          <a:prstGeom prst="roundRect">
            <a:avLst>
              <a:gd name="adj" fmla="val 833656"/>
            </a:avLst>
          </a:prstGeom>
          <a:solidFill>
            <a:srgbClr val="313E80"/>
          </a:solidFill>
          <a:ln/>
        </p:spPr>
      </p:sp>
      <p:sp>
        <p:nvSpPr>
          <p:cNvPr id="10" name="Shape 8"/>
          <p:cNvSpPr/>
          <p:nvPr/>
        </p:nvSpPr>
        <p:spPr>
          <a:xfrm>
            <a:off x="2617946" y="3446621"/>
            <a:ext cx="2684026" cy="871418"/>
          </a:xfrm>
          <a:prstGeom prst="roundRect">
            <a:avLst>
              <a:gd name="adj" fmla="val 7290"/>
            </a:avLst>
          </a:prstGeom>
          <a:solidFill>
            <a:srgbClr val="182567"/>
          </a:solidFill>
          <a:ln w="7620">
            <a:solidFill>
              <a:srgbClr val="313E80"/>
            </a:solidFill>
            <a:prstDash val="solid"/>
          </a:ln>
        </p:spPr>
      </p:sp>
      <p:sp>
        <p:nvSpPr>
          <p:cNvPr id="11" name="Text 9"/>
          <p:cNvSpPr/>
          <p:nvPr/>
        </p:nvSpPr>
        <p:spPr>
          <a:xfrm>
            <a:off x="3853577" y="3749397"/>
            <a:ext cx="212646" cy="265867"/>
          </a:xfrm>
          <a:prstGeom prst="rect">
            <a:avLst/>
          </a:prstGeom>
          <a:noFill/>
          <a:ln/>
        </p:spPr>
        <p:txBody>
          <a:bodyPr wrap="none" lIns="0" tIns="0" rIns="0" bIns="0" rtlCol="0" anchor="t"/>
          <a:lstStyle/>
          <a:p>
            <a:pPr marL="0" indent="0" algn="ctr">
              <a:lnSpc>
                <a:spcPts val="2650"/>
              </a:lnSpc>
              <a:buNone/>
            </a:pPr>
            <a:r>
              <a:rPr lang="en-US" sz="1650" dirty="0">
                <a:solidFill>
                  <a:srgbClr val="CFD0D8"/>
                </a:solidFill>
                <a:latin typeface="Roboto Medium" pitchFamily="34" charset="0"/>
                <a:ea typeface="Roboto Medium" pitchFamily="34" charset="-122"/>
                <a:cs typeface="Roboto Medium" pitchFamily="34" charset="-120"/>
              </a:rPr>
              <a:t>2</a:t>
            </a:r>
            <a:endParaRPr lang="en-US" sz="1650" dirty="0"/>
          </a:p>
        </p:txBody>
      </p:sp>
      <p:sp>
        <p:nvSpPr>
          <p:cNvPr id="12" name="Text 10"/>
          <p:cNvSpPr/>
          <p:nvPr/>
        </p:nvSpPr>
        <p:spPr>
          <a:xfrm>
            <a:off x="5453182" y="3597831"/>
            <a:ext cx="1905953" cy="236339"/>
          </a:xfrm>
          <a:prstGeom prst="rect">
            <a:avLst/>
          </a:prstGeom>
          <a:noFill/>
          <a:ln/>
        </p:spPr>
        <p:txBody>
          <a:bodyPr wrap="none" lIns="0" tIns="0" rIns="0" bIns="0" rtlCol="0" anchor="t"/>
          <a:lstStyle/>
          <a:p>
            <a:pPr marL="0" indent="0" algn="l">
              <a:lnSpc>
                <a:spcPts val="1850"/>
              </a:lnSpc>
              <a:buNone/>
            </a:pPr>
            <a:r>
              <a:rPr lang="en-US" sz="1450" dirty="0">
                <a:solidFill>
                  <a:srgbClr val="CFD0D8"/>
                </a:solidFill>
                <a:latin typeface="Roboto Medium" pitchFamily="34" charset="0"/>
                <a:ea typeface="Roboto Medium" pitchFamily="34" charset="-122"/>
                <a:cs typeface="Roboto Medium" pitchFamily="34" charset="-120"/>
              </a:rPr>
              <a:t>Family Transformation</a:t>
            </a:r>
            <a:endParaRPr lang="en-US" sz="1450" dirty="0"/>
          </a:p>
        </p:txBody>
      </p:sp>
      <p:sp>
        <p:nvSpPr>
          <p:cNvPr id="13" name="Text 11"/>
          <p:cNvSpPr/>
          <p:nvPr/>
        </p:nvSpPr>
        <p:spPr>
          <a:xfrm>
            <a:off x="5453182" y="3924895"/>
            <a:ext cx="3634978" cy="241935"/>
          </a:xfrm>
          <a:prstGeom prst="rect">
            <a:avLst/>
          </a:prstGeom>
          <a:noFill/>
          <a:ln/>
        </p:spPr>
        <p:txBody>
          <a:bodyPr wrap="none" lIns="0" tIns="0" rIns="0" bIns="0" rtlCol="0" anchor="t"/>
          <a:lstStyle/>
          <a:p>
            <a:pPr marL="0" indent="0" algn="l">
              <a:lnSpc>
                <a:spcPts val="1900"/>
              </a:lnSpc>
              <a:buNone/>
            </a:pPr>
            <a:r>
              <a:rPr lang="en-US" sz="1150" dirty="0">
                <a:solidFill>
                  <a:srgbClr val="CFD0D8"/>
                </a:solidFill>
                <a:latin typeface="Roboto" pitchFamily="34" charset="0"/>
                <a:ea typeface="Roboto" pitchFamily="34" charset="-122"/>
                <a:cs typeface="Roboto" pitchFamily="34" charset="-120"/>
              </a:rPr>
              <a:t>Families become schools of harmony and mutual care</a:t>
            </a:r>
            <a:endParaRPr lang="en-US" sz="1150" dirty="0"/>
          </a:p>
        </p:txBody>
      </p:sp>
      <p:sp>
        <p:nvSpPr>
          <p:cNvPr id="14" name="Shape 12"/>
          <p:cNvSpPr/>
          <p:nvPr/>
        </p:nvSpPr>
        <p:spPr>
          <a:xfrm>
            <a:off x="5377577" y="4314230"/>
            <a:ext cx="8572262" cy="7620"/>
          </a:xfrm>
          <a:prstGeom prst="roundRect">
            <a:avLst>
              <a:gd name="adj" fmla="val 833656"/>
            </a:avLst>
          </a:prstGeom>
          <a:solidFill>
            <a:srgbClr val="313E80"/>
          </a:solidFill>
          <a:ln/>
        </p:spPr>
      </p:sp>
      <p:sp>
        <p:nvSpPr>
          <p:cNvPr id="15" name="Shape 13"/>
          <p:cNvSpPr/>
          <p:nvPr/>
        </p:nvSpPr>
        <p:spPr>
          <a:xfrm>
            <a:off x="1946910" y="4393644"/>
            <a:ext cx="4026098" cy="871418"/>
          </a:xfrm>
          <a:prstGeom prst="roundRect">
            <a:avLst>
              <a:gd name="adj" fmla="val 7290"/>
            </a:avLst>
          </a:prstGeom>
          <a:solidFill>
            <a:srgbClr val="182567"/>
          </a:solidFill>
          <a:ln w="7620">
            <a:solidFill>
              <a:srgbClr val="313E80"/>
            </a:solidFill>
            <a:prstDash val="solid"/>
          </a:ln>
        </p:spPr>
      </p:sp>
      <p:sp>
        <p:nvSpPr>
          <p:cNvPr id="16" name="Text 14"/>
          <p:cNvSpPr/>
          <p:nvPr/>
        </p:nvSpPr>
        <p:spPr>
          <a:xfrm>
            <a:off x="3853577" y="4696420"/>
            <a:ext cx="212646" cy="265867"/>
          </a:xfrm>
          <a:prstGeom prst="rect">
            <a:avLst/>
          </a:prstGeom>
          <a:noFill/>
          <a:ln/>
        </p:spPr>
        <p:txBody>
          <a:bodyPr wrap="none" lIns="0" tIns="0" rIns="0" bIns="0" rtlCol="0" anchor="t"/>
          <a:lstStyle/>
          <a:p>
            <a:pPr marL="0" indent="0" algn="ctr">
              <a:lnSpc>
                <a:spcPts val="2650"/>
              </a:lnSpc>
              <a:buNone/>
            </a:pPr>
            <a:r>
              <a:rPr lang="en-US" sz="1650" dirty="0">
                <a:solidFill>
                  <a:srgbClr val="CFD0D8"/>
                </a:solidFill>
                <a:latin typeface="Roboto Medium" pitchFamily="34" charset="0"/>
                <a:ea typeface="Roboto Medium" pitchFamily="34" charset="-122"/>
                <a:cs typeface="Roboto Medium" pitchFamily="34" charset="-120"/>
              </a:rPr>
              <a:t>3</a:t>
            </a:r>
            <a:endParaRPr lang="en-US" sz="1650" dirty="0"/>
          </a:p>
        </p:txBody>
      </p:sp>
      <p:sp>
        <p:nvSpPr>
          <p:cNvPr id="17" name="Text 15"/>
          <p:cNvSpPr/>
          <p:nvPr/>
        </p:nvSpPr>
        <p:spPr>
          <a:xfrm>
            <a:off x="6124218" y="4544854"/>
            <a:ext cx="1890593" cy="236339"/>
          </a:xfrm>
          <a:prstGeom prst="rect">
            <a:avLst/>
          </a:prstGeom>
          <a:noFill/>
          <a:ln/>
        </p:spPr>
        <p:txBody>
          <a:bodyPr wrap="none" lIns="0" tIns="0" rIns="0" bIns="0" rtlCol="0" anchor="t"/>
          <a:lstStyle/>
          <a:p>
            <a:pPr marL="0" indent="0" algn="l">
              <a:lnSpc>
                <a:spcPts val="1850"/>
              </a:lnSpc>
              <a:buNone/>
            </a:pPr>
            <a:r>
              <a:rPr lang="en-US" sz="1450" dirty="0">
                <a:solidFill>
                  <a:srgbClr val="CFD0D8"/>
                </a:solidFill>
                <a:latin typeface="Roboto Medium" pitchFamily="34" charset="0"/>
                <a:ea typeface="Roboto Medium" pitchFamily="34" charset="-122"/>
                <a:cs typeface="Roboto Medium" pitchFamily="34" charset="-120"/>
              </a:rPr>
              <a:t>Community Ripple</a:t>
            </a:r>
            <a:endParaRPr lang="en-US" sz="1450" dirty="0"/>
          </a:p>
        </p:txBody>
      </p:sp>
      <p:sp>
        <p:nvSpPr>
          <p:cNvPr id="18" name="Text 16"/>
          <p:cNvSpPr/>
          <p:nvPr/>
        </p:nvSpPr>
        <p:spPr>
          <a:xfrm>
            <a:off x="6124218" y="4871918"/>
            <a:ext cx="3063597" cy="241935"/>
          </a:xfrm>
          <a:prstGeom prst="rect">
            <a:avLst/>
          </a:prstGeom>
          <a:noFill/>
          <a:ln/>
        </p:spPr>
        <p:txBody>
          <a:bodyPr wrap="none" lIns="0" tIns="0" rIns="0" bIns="0" rtlCol="0" anchor="t"/>
          <a:lstStyle/>
          <a:p>
            <a:pPr marL="0" indent="0" algn="l">
              <a:lnSpc>
                <a:spcPts val="1900"/>
              </a:lnSpc>
              <a:buNone/>
            </a:pPr>
            <a:r>
              <a:rPr lang="en-US" sz="1150" dirty="0">
                <a:solidFill>
                  <a:srgbClr val="CFD0D8"/>
                </a:solidFill>
                <a:latin typeface="Roboto" pitchFamily="34" charset="0"/>
                <a:ea typeface="Roboto" pitchFamily="34" charset="-122"/>
                <a:cs typeface="Roboto" pitchFamily="34" charset="-120"/>
              </a:rPr>
              <a:t>Communities reflect and amplify these values</a:t>
            </a:r>
            <a:endParaRPr lang="en-US" sz="1150" dirty="0"/>
          </a:p>
        </p:txBody>
      </p:sp>
      <p:sp>
        <p:nvSpPr>
          <p:cNvPr id="19" name="Shape 17"/>
          <p:cNvSpPr/>
          <p:nvPr/>
        </p:nvSpPr>
        <p:spPr>
          <a:xfrm>
            <a:off x="6048613" y="5261253"/>
            <a:ext cx="7901226" cy="7620"/>
          </a:xfrm>
          <a:prstGeom prst="roundRect">
            <a:avLst>
              <a:gd name="adj" fmla="val 833656"/>
            </a:avLst>
          </a:prstGeom>
          <a:solidFill>
            <a:srgbClr val="313E80"/>
          </a:solidFill>
          <a:ln/>
        </p:spPr>
      </p:sp>
      <p:sp>
        <p:nvSpPr>
          <p:cNvPr id="20" name="Shape 18"/>
          <p:cNvSpPr/>
          <p:nvPr/>
        </p:nvSpPr>
        <p:spPr>
          <a:xfrm>
            <a:off x="1275874" y="5340668"/>
            <a:ext cx="5368171" cy="871418"/>
          </a:xfrm>
          <a:prstGeom prst="roundRect">
            <a:avLst>
              <a:gd name="adj" fmla="val 7290"/>
            </a:avLst>
          </a:prstGeom>
          <a:solidFill>
            <a:srgbClr val="182567"/>
          </a:solidFill>
          <a:ln w="7620">
            <a:solidFill>
              <a:srgbClr val="313E80"/>
            </a:solidFill>
            <a:prstDash val="solid"/>
          </a:ln>
        </p:spPr>
      </p:sp>
      <p:sp>
        <p:nvSpPr>
          <p:cNvPr id="21" name="Text 19"/>
          <p:cNvSpPr/>
          <p:nvPr/>
        </p:nvSpPr>
        <p:spPr>
          <a:xfrm>
            <a:off x="3853577" y="5643443"/>
            <a:ext cx="212646" cy="265867"/>
          </a:xfrm>
          <a:prstGeom prst="rect">
            <a:avLst/>
          </a:prstGeom>
          <a:noFill/>
          <a:ln/>
        </p:spPr>
        <p:txBody>
          <a:bodyPr wrap="none" lIns="0" tIns="0" rIns="0" bIns="0" rtlCol="0" anchor="t"/>
          <a:lstStyle/>
          <a:p>
            <a:pPr marL="0" indent="0" algn="ctr">
              <a:lnSpc>
                <a:spcPts val="2650"/>
              </a:lnSpc>
              <a:buNone/>
            </a:pPr>
            <a:r>
              <a:rPr lang="en-US" sz="1650" dirty="0">
                <a:solidFill>
                  <a:srgbClr val="CFD0D8"/>
                </a:solidFill>
                <a:latin typeface="Roboto Medium" pitchFamily="34" charset="0"/>
                <a:ea typeface="Roboto Medium" pitchFamily="34" charset="-122"/>
                <a:cs typeface="Roboto Medium" pitchFamily="34" charset="-120"/>
              </a:rPr>
              <a:t>4</a:t>
            </a:r>
            <a:endParaRPr lang="en-US" sz="1650" dirty="0"/>
          </a:p>
        </p:txBody>
      </p:sp>
      <p:sp>
        <p:nvSpPr>
          <p:cNvPr id="22" name="Text 20"/>
          <p:cNvSpPr/>
          <p:nvPr/>
        </p:nvSpPr>
        <p:spPr>
          <a:xfrm>
            <a:off x="6795254" y="5491877"/>
            <a:ext cx="1890593" cy="236339"/>
          </a:xfrm>
          <a:prstGeom prst="rect">
            <a:avLst/>
          </a:prstGeom>
          <a:noFill/>
          <a:ln/>
        </p:spPr>
        <p:txBody>
          <a:bodyPr wrap="none" lIns="0" tIns="0" rIns="0" bIns="0" rtlCol="0" anchor="t"/>
          <a:lstStyle/>
          <a:p>
            <a:pPr marL="0" indent="0" algn="l">
              <a:lnSpc>
                <a:spcPts val="1850"/>
              </a:lnSpc>
              <a:buNone/>
            </a:pPr>
            <a:r>
              <a:rPr lang="en-US" sz="1450" dirty="0">
                <a:solidFill>
                  <a:srgbClr val="CFD0D8"/>
                </a:solidFill>
                <a:latin typeface="Roboto Medium" pitchFamily="34" charset="0"/>
                <a:ea typeface="Roboto Medium" pitchFamily="34" charset="-122"/>
                <a:cs typeface="Roboto Medium" pitchFamily="34" charset="-120"/>
              </a:rPr>
              <a:t>Societal Harmony</a:t>
            </a:r>
            <a:endParaRPr lang="en-US" sz="1450" dirty="0"/>
          </a:p>
        </p:txBody>
      </p:sp>
      <p:sp>
        <p:nvSpPr>
          <p:cNvPr id="23" name="Text 21"/>
          <p:cNvSpPr/>
          <p:nvPr/>
        </p:nvSpPr>
        <p:spPr>
          <a:xfrm>
            <a:off x="6795254" y="5818942"/>
            <a:ext cx="4297442" cy="241935"/>
          </a:xfrm>
          <a:prstGeom prst="rect">
            <a:avLst/>
          </a:prstGeom>
          <a:noFill/>
          <a:ln/>
        </p:spPr>
        <p:txBody>
          <a:bodyPr wrap="none" lIns="0" tIns="0" rIns="0" bIns="0" rtlCol="0" anchor="t"/>
          <a:lstStyle/>
          <a:p>
            <a:pPr marL="0" indent="0" algn="l">
              <a:lnSpc>
                <a:spcPts val="1900"/>
              </a:lnSpc>
              <a:buNone/>
            </a:pPr>
            <a:r>
              <a:rPr lang="en-US" sz="1150" dirty="0">
                <a:solidFill>
                  <a:srgbClr val="CFD0D8"/>
                </a:solidFill>
                <a:latin typeface="Roboto" pitchFamily="34" charset="0"/>
                <a:ea typeface="Roboto" pitchFamily="34" charset="-122"/>
                <a:cs typeface="Roboto" pitchFamily="34" charset="-120"/>
              </a:rPr>
              <a:t>Society becomes organized around justice and shared wellbeing</a:t>
            </a:r>
            <a:endParaRPr lang="en-US" sz="1150" dirty="0"/>
          </a:p>
        </p:txBody>
      </p:sp>
      <p:sp>
        <p:nvSpPr>
          <p:cNvPr id="24" name="Shape 22"/>
          <p:cNvSpPr/>
          <p:nvPr/>
        </p:nvSpPr>
        <p:spPr>
          <a:xfrm>
            <a:off x="6719649" y="6208276"/>
            <a:ext cx="7230189" cy="7620"/>
          </a:xfrm>
          <a:prstGeom prst="roundRect">
            <a:avLst>
              <a:gd name="adj" fmla="val 833656"/>
            </a:avLst>
          </a:prstGeom>
          <a:solidFill>
            <a:srgbClr val="313E80"/>
          </a:solidFill>
          <a:ln/>
        </p:spPr>
      </p:sp>
      <p:sp>
        <p:nvSpPr>
          <p:cNvPr id="25" name="Shape 23"/>
          <p:cNvSpPr/>
          <p:nvPr/>
        </p:nvSpPr>
        <p:spPr>
          <a:xfrm>
            <a:off x="604957" y="6287691"/>
            <a:ext cx="6710243" cy="871418"/>
          </a:xfrm>
          <a:prstGeom prst="roundRect">
            <a:avLst>
              <a:gd name="adj" fmla="val 7290"/>
            </a:avLst>
          </a:prstGeom>
          <a:solidFill>
            <a:srgbClr val="182567"/>
          </a:solidFill>
          <a:ln w="7620">
            <a:solidFill>
              <a:srgbClr val="313E80"/>
            </a:solidFill>
            <a:prstDash val="solid"/>
          </a:ln>
        </p:spPr>
      </p:sp>
      <p:sp>
        <p:nvSpPr>
          <p:cNvPr id="26" name="Text 24"/>
          <p:cNvSpPr/>
          <p:nvPr/>
        </p:nvSpPr>
        <p:spPr>
          <a:xfrm>
            <a:off x="3853696" y="6590467"/>
            <a:ext cx="212646" cy="265867"/>
          </a:xfrm>
          <a:prstGeom prst="rect">
            <a:avLst/>
          </a:prstGeom>
          <a:noFill/>
          <a:ln/>
        </p:spPr>
        <p:txBody>
          <a:bodyPr wrap="none" lIns="0" tIns="0" rIns="0" bIns="0" rtlCol="0" anchor="t"/>
          <a:lstStyle/>
          <a:p>
            <a:pPr marL="0" indent="0" algn="ctr">
              <a:lnSpc>
                <a:spcPts val="2650"/>
              </a:lnSpc>
              <a:buNone/>
            </a:pPr>
            <a:r>
              <a:rPr lang="en-US" sz="1650" dirty="0">
                <a:solidFill>
                  <a:srgbClr val="CFD0D8"/>
                </a:solidFill>
                <a:latin typeface="Roboto Medium" pitchFamily="34" charset="0"/>
                <a:ea typeface="Roboto Medium" pitchFamily="34" charset="-122"/>
                <a:cs typeface="Roboto Medium" pitchFamily="34" charset="-120"/>
              </a:rPr>
              <a:t>5</a:t>
            </a:r>
            <a:endParaRPr lang="en-US" sz="1650" dirty="0"/>
          </a:p>
        </p:txBody>
      </p:sp>
      <p:sp>
        <p:nvSpPr>
          <p:cNvPr id="27" name="Text 25"/>
          <p:cNvSpPr/>
          <p:nvPr/>
        </p:nvSpPr>
        <p:spPr>
          <a:xfrm>
            <a:off x="7466409" y="6438900"/>
            <a:ext cx="1890593" cy="236339"/>
          </a:xfrm>
          <a:prstGeom prst="rect">
            <a:avLst/>
          </a:prstGeom>
          <a:noFill/>
          <a:ln/>
        </p:spPr>
        <p:txBody>
          <a:bodyPr wrap="none" lIns="0" tIns="0" rIns="0" bIns="0" rtlCol="0" anchor="t"/>
          <a:lstStyle/>
          <a:p>
            <a:pPr marL="0" indent="0" algn="l">
              <a:lnSpc>
                <a:spcPts val="1850"/>
              </a:lnSpc>
              <a:buNone/>
            </a:pPr>
            <a:r>
              <a:rPr lang="en-US" sz="1450" dirty="0">
                <a:solidFill>
                  <a:srgbClr val="CFD0D8"/>
                </a:solidFill>
                <a:latin typeface="Roboto Medium" pitchFamily="34" charset="0"/>
                <a:ea typeface="Roboto Medium" pitchFamily="34" charset="-122"/>
                <a:cs typeface="Roboto Medium" pitchFamily="34" charset="-120"/>
              </a:rPr>
              <a:t>Universal Order</a:t>
            </a:r>
            <a:endParaRPr lang="en-US" sz="1450" dirty="0"/>
          </a:p>
        </p:txBody>
      </p:sp>
      <p:sp>
        <p:nvSpPr>
          <p:cNvPr id="28" name="Text 26"/>
          <p:cNvSpPr/>
          <p:nvPr/>
        </p:nvSpPr>
        <p:spPr>
          <a:xfrm>
            <a:off x="7466409" y="6765965"/>
            <a:ext cx="4814530" cy="241935"/>
          </a:xfrm>
          <a:prstGeom prst="rect">
            <a:avLst/>
          </a:prstGeom>
          <a:noFill/>
          <a:ln/>
        </p:spPr>
        <p:txBody>
          <a:bodyPr wrap="none" lIns="0" tIns="0" rIns="0" bIns="0" rtlCol="0" anchor="t"/>
          <a:lstStyle/>
          <a:p>
            <a:pPr marL="0" indent="0" algn="l">
              <a:lnSpc>
                <a:spcPts val="1900"/>
              </a:lnSpc>
              <a:buNone/>
            </a:pPr>
            <a:r>
              <a:rPr lang="en-US" sz="1150" dirty="0">
                <a:solidFill>
                  <a:srgbClr val="CFD0D8"/>
                </a:solidFill>
                <a:latin typeface="Roboto" pitchFamily="34" charset="0"/>
                <a:ea typeface="Roboto" pitchFamily="34" charset="-122"/>
                <a:cs typeface="Roboto" pitchFamily="34" charset="-120"/>
              </a:rPr>
              <a:t>A harmonious world emerges from millions of harmonious relationships</a:t>
            </a:r>
            <a:endParaRPr lang="en-US" sz="1150" dirty="0"/>
          </a:p>
        </p:txBody>
      </p:sp>
      <p:sp>
        <p:nvSpPr>
          <p:cNvPr id="29" name="Text 27"/>
          <p:cNvSpPr/>
          <p:nvPr/>
        </p:nvSpPr>
        <p:spPr>
          <a:xfrm>
            <a:off x="604957" y="7329249"/>
            <a:ext cx="13420487" cy="483870"/>
          </a:xfrm>
          <a:prstGeom prst="rect">
            <a:avLst/>
          </a:prstGeom>
          <a:noFill/>
          <a:ln/>
        </p:spPr>
        <p:txBody>
          <a:bodyPr wrap="square" lIns="0" tIns="0" rIns="0" bIns="0" rtlCol="0" anchor="t"/>
          <a:lstStyle/>
          <a:p>
            <a:pPr marL="0" indent="0" algn="l">
              <a:lnSpc>
                <a:spcPts val="1900"/>
              </a:lnSpc>
              <a:buNone/>
            </a:pPr>
            <a:r>
              <a:rPr lang="en-US" sz="1150" b="1" dirty="0">
                <a:solidFill>
                  <a:srgbClr val="CFD0D8"/>
                </a:solidFill>
                <a:latin typeface="Roboto" pitchFamily="34" charset="0"/>
                <a:ea typeface="Roboto" pitchFamily="34" charset="-122"/>
                <a:cs typeface="Roboto" pitchFamily="34" charset="-120"/>
              </a:rPr>
              <a:t>Let us commit today</a:t>
            </a:r>
            <a:r>
              <a:rPr lang="en-US" sz="1150" dirty="0">
                <a:solidFill>
                  <a:srgbClr val="CFD0D8"/>
                </a:solidFill>
                <a:latin typeface="Roboto" pitchFamily="34" charset="0"/>
                <a:ea typeface="Roboto" pitchFamily="34" charset="-122"/>
                <a:cs typeface="Roboto" pitchFamily="34" charset="-120"/>
              </a:rPr>
              <a:t> to nurturing trust, respect, affection, care, guidance, reverence, glory, gratitude, and love in all our relationships. Together, we create a universal harmonious order where every person experiences mutual happiness and prosperity.</a:t>
            </a:r>
            <a:endParaRPr lang="en-US" sz="1150" dirty="0"/>
          </a:p>
        </p:txBody>
      </p:sp>
      <p:pic>
        <p:nvPicPr>
          <p:cNvPr id="30" name="Picture 29"/>
          <p:cNvPicPr>
            <a:picLocks noChangeAspect="1"/>
          </p:cNvPicPr>
          <p:nvPr/>
        </p:nvPicPr>
        <p:blipFill>
          <a:blip r:embed="rId3"/>
          <a:stretch>
            <a:fillRect/>
          </a:stretch>
        </p:blipFill>
        <p:spPr>
          <a:xfrm>
            <a:off x="11058026" y="7715178"/>
            <a:ext cx="3572374" cy="51442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837139"/>
            <a:ext cx="13042821" cy="3194009"/>
          </a:xfrm>
          <a:prstGeom prst="rect">
            <a:avLst/>
          </a:prstGeom>
          <a:noFill/>
          <a:ln/>
        </p:spPr>
        <p:txBody>
          <a:bodyPr wrap="none" lIns="0" tIns="0" rIns="0" bIns="0" rtlCol="0" anchor="t"/>
          <a:lstStyle/>
          <a:p>
            <a:pPr marL="0" indent="0" algn="l">
              <a:lnSpc>
                <a:spcPts val="14650"/>
              </a:lnSpc>
              <a:buNone/>
            </a:pPr>
            <a:r>
              <a:rPr lang="en-US" sz="11700" dirty="0">
                <a:solidFill>
                  <a:srgbClr val="FFFFFF"/>
                </a:solidFill>
                <a:latin typeface="Roboto Medium" pitchFamily="34" charset="0"/>
                <a:ea typeface="Roboto Medium" pitchFamily="34" charset="-122"/>
                <a:cs typeface="Roboto Medium" pitchFamily="34" charset="-120"/>
              </a:rPr>
              <a:t>        </a:t>
            </a:r>
            <a:r>
              <a:rPr lang="en-US" sz="11700" b="1" dirty="0">
                <a:solidFill>
                  <a:srgbClr val="FFFFFF"/>
                </a:solidFill>
                <a:latin typeface="Segoe UI Black" panose="020B0A02040204020203" pitchFamily="34" charset="0"/>
                <a:ea typeface="Segoe UI Black" panose="020B0A02040204020203" pitchFamily="34" charset="0"/>
                <a:cs typeface="Roboto Medium" pitchFamily="34" charset="-120"/>
              </a:rPr>
              <a:t>Thank You</a:t>
            </a:r>
            <a:endParaRPr lang="en-US" sz="11700" b="1" dirty="0">
              <a:latin typeface="Segoe UI Black" panose="020B0A02040204020203" pitchFamily="34" charset="0"/>
              <a:ea typeface="Segoe UI Black" panose="020B0A02040204020203" pitchFamily="34" charset="0"/>
            </a:endParaRPr>
          </a:p>
        </p:txBody>
      </p:sp>
      <p:sp>
        <p:nvSpPr>
          <p:cNvPr id="3" name="Text 1"/>
          <p:cNvSpPr/>
          <p:nvPr/>
        </p:nvSpPr>
        <p:spPr>
          <a:xfrm>
            <a:off x="793790" y="4995386"/>
            <a:ext cx="13042821" cy="396954"/>
          </a:xfrm>
          <a:prstGeom prst="rect">
            <a:avLst/>
          </a:prstGeom>
          <a:noFill/>
          <a:ln/>
        </p:spPr>
        <p:txBody>
          <a:bodyPr wrap="none" lIns="0" tIns="0" rIns="0" bIns="0" rtlCol="0" anchor="t"/>
          <a:lstStyle/>
          <a:p>
            <a:pPr marL="0" indent="0" algn="l">
              <a:lnSpc>
                <a:spcPts val="3100"/>
              </a:lnSpc>
              <a:buNone/>
            </a:pPr>
            <a:endParaRPr lang="en-US" sz="1950" dirty="0"/>
          </a:p>
        </p:txBody>
      </p:sp>
      <p:pic>
        <p:nvPicPr>
          <p:cNvPr id="4" name="Picture 3"/>
          <p:cNvPicPr>
            <a:picLocks noChangeAspect="1"/>
          </p:cNvPicPr>
          <p:nvPr/>
        </p:nvPicPr>
        <p:blipFill>
          <a:blip r:embed="rId3"/>
          <a:stretch>
            <a:fillRect/>
          </a:stretch>
        </p:blipFill>
        <p:spPr>
          <a:xfrm>
            <a:off x="11058026" y="7715178"/>
            <a:ext cx="3572374" cy="5144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1156</Words>
  <Application>Microsoft Office PowerPoint</Application>
  <PresentationFormat>Custom</PresentationFormat>
  <Paragraphs>118</Paragraphs>
  <Slides>10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Times New Roman</vt:lpstr>
      <vt:lpstr>Roboto Medium</vt:lpstr>
      <vt:lpstr>Calibri</vt:lpstr>
      <vt:lpstr>Roboto</vt:lpstr>
      <vt:lpstr>Segoe UI Black</vt:lpstr>
      <vt:lpstr>Calibri Light</vt:lpstr>
      <vt:lpstr>Office Theme</vt:lpstr>
      <vt:lpstr>MADHAV INSTITUTE OF TECHNOLOGY AND SCIENCE, GWALIOR (A Govt. Aided UGC Autonomous Institute, Affiliated to RGPV, Bhopal) NAAC Accredited with A++ Grade  DEPARTMENT OF INFORMATION TECHNOLOGY </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MADHAV INSTITUTE OF TECHNOLOGY AND SCIENCE, GWALIOR (A Govt. Aided UGC Autonomous Institute, Affiliated to RGPV, Bhopal) NAAC Accredited with A++ Grade  DEPARTMENT OF INFORMATION TECHNOLOGY </dc:title>
  <dc:subject/>
  <dc:creator>AMARDEEP CHOUHAN</dc:creator>
  <cp:lastModifiedBy>intel</cp:lastModifiedBy>
  <cp:revision>3</cp:revision>
  <dcterms:created xsi:type="dcterms:W3CDTF">2025-11-07T05:14:28Z</dcterms:created>
  <dcterms:modified xsi:type="dcterms:W3CDTF">2025-11-15T13:07:01Z</dcterms:modified>
</cp:coreProperties>
</file>